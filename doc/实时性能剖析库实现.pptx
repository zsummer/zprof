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handoutMasterIdLst>
    <p:handoutMasterId r:id="rId55"/>
  </p:handoutMasterIdLst>
  <p:sldIdLst>
    <p:sldId id="312" r:id="rId2"/>
    <p:sldId id="568" r:id="rId3"/>
    <p:sldId id="584" r:id="rId4"/>
    <p:sldId id="573" r:id="rId5"/>
    <p:sldId id="574" r:id="rId6"/>
    <p:sldId id="575" r:id="rId7"/>
    <p:sldId id="580" r:id="rId8"/>
    <p:sldId id="581" r:id="rId9"/>
    <p:sldId id="579" r:id="rId10"/>
    <p:sldId id="595" r:id="rId11"/>
    <p:sldId id="596" r:id="rId12"/>
    <p:sldId id="597" r:id="rId13"/>
    <p:sldId id="598" r:id="rId14"/>
    <p:sldId id="599" r:id="rId15"/>
    <p:sldId id="600" r:id="rId16"/>
    <p:sldId id="594" r:id="rId17"/>
    <p:sldId id="601" r:id="rId18"/>
    <p:sldId id="602" r:id="rId19"/>
    <p:sldId id="605" r:id="rId20"/>
    <p:sldId id="583" r:id="rId21"/>
    <p:sldId id="578" r:id="rId22"/>
    <p:sldId id="606" r:id="rId23"/>
    <p:sldId id="582" r:id="rId24"/>
    <p:sldId id="576" r:id="rId25"/>
    <p:sldId id="577" r:id="rId26"/>
    <p:sldId id="607" r:id="rId27"/>
    <p:sldId id="610" r:id="rId28"/>
    <p:sldId id="608" r:id="rId29"/>
    <p:sldId id="609" r:id="rId30"/>
    <p:sldId id="587" r:id="rId31"/>
    <p:sldId id="586" r:id="rId32"/>
    <p:sldId id="589" r:id="rId33"/>
    <p:sldId id="588" r:id="rId34"/>
    <p:sldId id="590" r:id="rId35"/>
    <p:sldId id="591" r:id="rId36"/>
    <p:sldId id="592" r:id="rId37"/>
    <p:sldId id="585" r:id="rId38"/>
    <p:sldId id="569" r:id="rId39"/>
    <p:sldId id="570" r:id="rId40"/>
    <p:sldId id="571" r:id="rId41"/>
    <p:sldId id="572" r:id="rId42"/>
    <p:sldId id="456" r:id="rId43"/>
    <p:sldId id="566" r:id="rId44"/>
    <p:sldId id="496" r:id="rId45"/>
    <p:sldId id="495" r:id="rId46"/>
    <p:sldId id="452" r:id="rId47"/>
    <p:sldId id="611" r:id="rId48"/>
    <p:sldId id="612" r:id="rId49"/>
    <p:sldId id="613" r:id="rId50"/>
    <p:sldId id="261" r:id="rId51"/>
    <p:sldId id="593" r:id="rId52"/>
    <p:sldId id="614"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140090" initials="T" lastIdx="1" clrIdx="0">
    <p:extLst>
      <p:ext uri="{19B8F6BF-5375-455C-9EA6-DF929625EA0E}">
        <p15:presenceInfo xmlns:p15="http://schemas.microsoft.com/office/powerpoint/2012/main" userId="T140090"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4D1FF"/>
    <a:srgbClr val="79D6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7" autoAdjust="0"/>
    <p:restoredTop sz="74846" autoAdjust="0"/>
  </p:normalViewPr>
  <p:slideViewPr>
    <p:cSldViewPr snapToGrid="0" snapToObjects="1">
      <p:cViewPr varScale="1">
        <p:scale>
          <a:sx n="120" d="100"/>
          <a:sy n="120" d="100"/>
        </p:scale>
        <p:origin x="1716" y="88"/>
      </p:cViewPr>
      <p:guideLst>
        <p:guide orient="horz" pos="2160"/>
        <p:guide pos="3840"/>
      </p:guideLst>
    </p:cSldViewPr>
  </p:slideViewPr>
  <p:outlineViewPr>
    <p:cViewPr>
      <p:scale>
        <a:sx n="33" d="100"/>
        <a:sy n="33" d="100"/>
      </p:scale>
      <p:origin x="0" y="-228"/>
    </p:cViewPr>
  </p:outlineViewPr>
  <p:notesTextViewPr>
    <p:cViewPr>
      <p:scale>
        <a:sx n="1" d="1"/>
        <a:sy n="1" d="1"/>
      </p:scale>
      <p:origin x="0" y="0"/>
    </p:cViewPr>
  </p:notesTextViewPr>
  <p:sorterViewPr>
    <p:cViewPr>
      <p:scale>
        <a:sx n="95" d="100"/>
        <a:sy n="95" d="100"/>
      </p:scale>
      <p:origin x="0" y="-3450"/>
    </p:cViewPr>
  </p:sorterViewPr>
  <p:notesViewPr>
    <p:cSldViewPr snapToGrid="0" snapToObjects="1">
      <p:cViewPr varScale="1">
        <p:scale>
          <a:sx n="84" d="100"/>
          <a:sy n="84" d="100"/>
        </p:scale>
        <p:origin x="382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dirty="0"/>
              <a:t>起服</a:t>
            </a:r>
            <a:r>
              <a:rPr lang="zh-CN" dirty="0"/>
              <a:t>内存变化</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DS可执行文件</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内存(g)</c:v>
                </c:pt>
              </c:strCache>
            </c:strRef>
          </c:cat>
          <c:val>
            <c:numRef>
              <c:f>Sheet1!$B$2</c:f>
              <c:numCache>
                <c:formatCode>General</c:formatCode>
                <c:ptCount val="1"/>
                <c:pt idx="0">
                  <c:v>0.36699999999999999</c:v>
                </c:pt>
              </c:numCache>
            </c:numRef>
          </c:val>
          <c:extLst>
            <c:ext xmlns:c16="http://schemas.microsoft.com/office/drawing/2014/chart" uri="{C3380CC4-5D6E-409C-BE32-E72D297353CC}">
              <c16:uniqueId val="{00000000-6381-413D-89CA-7C691B24CFC5}"/>
            </c:ext>
          </c:extLst>
        </c:ser>
        <c:ser>
          <c:idx val="1"/>
          <c:order val="1"/>
          <c:tx>
            <c:strRef>
              <c:f>Sheet1!$C$1</c:f>
              <c:strCache>
                <c:ptCount val="1"/>
                <c:pt idx="0">
                  <c:v>main</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内存(g)</c:v>
                </c:pt>
              </c:strCache>
            </c:strRef>
          </c:cat>
          <c:val>
            <c:numRef>
              <c:f>Sheet1!$C$2</c:f>
              <c:numCache>
                <c:formatCode>General</c:formatCode>
                <c:ptCount val="1"/>
                <c:pt idx="0">
                  <c:v>0.27500000000000002</c:v>
                </c:pt>
              </c:numCache>
            </c:numRef>
          </c:val>
          <c:extLst>
            <c:ext xmlns:c16="http://schemas.microsoft.com/office/drawing/2014/chart" uri="{C3380CC4-5D6E-409C-BE32-E72D297353CC}">
              <c16:uniqueId val="{00000001-6381-413D-89CA-7C691B24CFC5}"/>
            </c:ext>
          </c:extLst>
        </c:ser>
        <c:ser>
          <c:idx val="2"/>
          <c:order val="2"/>
          <c:tx>
            <c:strRef>
              <c:f>Sheet1!$D$1</c:f>
              <c:strCache>
                <c:ptCount val="1"/>
                <c:pt idx="0">
                  <c:v>init obj pool</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内存(g)</c:v>
                </c:pt>
              </c:strCache>
            </c:strRef>
          </c:cat>
          <c:val>
            <c:numRef>
              <c:f>Sheet1!$D$2</c:f>
              <c:numCache>
                <c:formatCode>General</c:formatCode>
                <c:ptCount val="1"/>
                <c:pt idx="0">
                  <c:v>3.4849999999999999</c:v>
                </c:pt>
              </c:numCache>
            </c:numRef>
          </c:val>
          <c:extLst>
            <c:ext xmlns:c16="http://schemas.microsoft.com/office/drawing/2014/chart" uri="{C3380CC4-5D6E-409C-BE32-E72D297353CC}">
              <c16:uniqueId val="{00000002-6381-413D-89CA-7C691B24CFC5}"/>
            </c:ext>
          </c:extLst>
        </c:ser>
        <c:ser>
          <c:idx val="3"/>
          <c:order val="3"/>
          <c:tx>
            <c:strRef>
              <c:f>Sheet1!$E$1</c:f>
              <c:strCache>
                <c:ptCount val="1"/>
                <c:pt idx="0">
                  <c:v>load tables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内存(g)</c:v>
                </c:pt>
              </c:strCache>
            </c:strRef>
          </c:cat>
          <c:val>
            <c:numRef>
              <c:f>Sheet1!$E$2</c:f>
              <c:numCache>
                <c:formatCode>General</c:formatCode>
                <c:ptCount val="1"/>
                <c:pt idx="0">
                  <c:v>3.6042000000000001</c:v>
                </c:pt>
              </c:numCache>
            </c:numRef>
          </c:val>
          <c:extLst>
            <c:ext xmlns:c16="http://schemas.microsoft.com/office/drawing/2014/chart" uri="{C3380CC4-5D6E-409C-BE32-E72D297353CC}">
              <c16:uniqueId val="{00000004-6381-413D-89CA-7C691B24CFC5}"/>
            </c:ext>
          </c:extLst>
        </c:ser>
        <c:ser>
          <c:idx val="4"/>
          <c:order val="4"/>
          <c:tx>
            <c:strRef>
              <c:f>Sheet1!$F$1</c:f>
              <c:strCache>
                <c:ptCount val="1"/>
                <c:pt idx="0">
                  <c:v>load physx</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内存(g)</c:v>
                </c:pt>
              </c:strCache>
            </c:strRef>
          </c:cat>
          <c:val>
            <c:numRef>
              <c:f>Sheet1!$F$2</c:f>
              <c:numCache>
                <c:formatCode>General</c:formatCode>
                <c:ptCount val="1"/>
                <c:pt idx="0">
                  <c:v>5.4177</c:v>
                </c:pt>
              </c:numCache>
            </c:numRef>
          </c:val>
          <c:extLst>
            <c:ext xmlns:c16="http://schemas.microsoft.com/office/drawing/2014/chart" uri="{C3380CC4-5D6E-409C-BE32-E72D297353CC}">
              <c16:uniqueId val="{00000005-6381-413D-89CA-7C691B24CFC5}"/>
            </c:ext>
          </c:extLst>
        </c:ser>
        <c:ser>
          <c:idx val="5"/>
          <c:order val="5"/>
          <c:tx>
            <c:strRef>
              <c:f>Sheet1!$G$1</c:f>
              <c:strCache>
                <c:ptCount val="1"/>
                <c:pt idx="0">
                  <c:v>navimesh init</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内存(g)</c:v>
                </c:pt>
              </c:strCache>
            </c:strRef>
          </c:cat>
          <c:val>
            <c:numRef>
              <c:f>Sheet1!$G$2</c:f>
              <c:numCache>
                <c:formatCode>General</c:formatCode>
                <c:ptCount val="1"/>
                <c:pt idx="0">
                  <c:v>5.6185</c:v>
                </c:pt>
              </c:numCache>
            </c:numRef>
          </c:val>
          <c:extLst>
            <c:ext xmlns:c16="http://schemas.microsoft.com/office/drawing/2014/chart" uri="{C3380CC4-5D6E-409C-BE32-E72D297353CC}">
              <c16:uniqueId val="{00000006-6381-413D-89CA-7C691B24CFC5}"/>
            </c:ext>
          </c:extLst>
        </c:ser>
        <c:ser>
          <c:idx val="6"/>
          <c:order val="6"/>
          <c:tx>
            <c:strRef>
              <c:f>Sheet1!$H$1</c:f>
              <c:strCache>
                <c:ptCount val="1"/>
                <c:pt idx="0">
                  <c:v>CreateSceneObjects</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内存(g)</c:v>
                </c:pt>
              </c:strCache>
            </c:strRef>
          </c:cat>
          <c:val>
            <c:numRef>
              <c:f>Sheet1!$H$2</c:f>
              <c:numCache>
                <c:formatCode>General</c:formatCode>
                <c:ptCount val="1"/>
                <c:pt idx="0">
                  <c:v>6.2378</c:v>
                </c:pt>
              </c:numCache>
            </c:numRef>
          </c:val>
          <c:extLst>
            <c:ext xmlns:c16="http://schemas.microsoft.com/office/drawing/2014/chart" uri="{C3380CC4-5D6E-409C-BE32-E72D297353CC}">
              <c16:uniqueId val="{00000007-6381-413D-89CA-7C691B24CFC5}"/>
            </c:ext>
          </c:extLst>
        </c:ser>
        <c:ser>
          <c:idx val="7"/>
          <c:order val="7"/>
          <c:tx>
            <c:strRef>
              <c:f>Sheet1!$I$1</c:f>
              <c:strCache>
                <c:ptCount val="1"/>
                <c:pt idx="0">
                  <c:v>大世界</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内存(g)</c:v>
                </c:pt>
              </c:strCache>
            </c:strRef>
          </c:cat>
          <c:val>
            <c:numRef>
              <c:f>Sheet1!$I$2</c:f>
              <c:numCache>
                <c:formatCode>General</c:formatCode>
                <c:ptCount val="1"/>
                <c:pt idx="0">
                  <c:v>8.49</c:v>
                </c:pt>
              </c:numCache>
            </c:numRef>
          </c:val>
          <c:extLst>
            <c:ext xmlns:c16="http://schemas.microsoft.com/office/drawing/2014/chart" uri="{C3380CC4-5D6E-409C-BE32-E72D297353CC}">
              <c16:uniqueId val="{00000001-88FE-44BC-BF59-714AA0F4D81D}"/>
            </c:ext>
          </c:extLst>
        </c:ser>
        <c:dLbls>
          <c:dLblPos val="outEnd"/>
          <c:showLegendKey val="0"/>
          <c:showVal val="1"/>
          <c:showCatName val="0"/>
          <c:showSerName val="0"/>
          <c:showPercent val="0"/>
          <c:showBubbleSize val="0"/>
        </c:dLbls>
        <c:gapWidth val="219"/>
        <c:overlap val="-27"/>
        <c:axId val="463270472"/>
        <c:axId val="463269816"/>
      </c:barChart>
      <c:catAx>
        <c:axId val="463270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463269816"/>
        <c:crosses val="autoZero"/>
        <c:auto val="1"/>
        <c:lblAlgn val="ctr"/>
        <c:lblOffset val="100"/>
        <c:noMultiLvlLbl val="0"/>
      </c:catAx>
      <c:valAx>
        <c:axId val="4632698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4632704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FBE9AB1-150C-4016-95A5-89B153E1EF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ndParaRPr>
          </a:p>
        </p:txBody>
      </p:sp>
      <p:sp>
        <p:nvSpPr>
          <p:cNvPr id="3" name="日期占位符 2">
            <a:extLst>
              <a:ext uri="{FF2B5EF4-FFF2-40B4-BE49-F238E27FC236}">
                <a16:creationId xmlns:a16="http://schemas.microsoft.com/office/drawing/2014/main" id="{30D4361E-B420-42E8-85B8-4FC773B313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28C1B4-4C9A-441F-A21C-7A4E821C85E9}" type="datetimeFigureOut">
              <a:rPr lang="zh-CN" altLang="en-US" smtClean="0">
                <a:latin typeface="微软雅黑" panose="020B0503020204020204" pitchFamily="34" charset="-122"/>
              </a:rPr>
              <a:t>2026/3/4</a:t>
            </a:fld>
            <a:endParaRPr lang="zh-CN" altLang="en-US" dirty="0">
              <a:latin typeface="微软雅黑" panose="020B0503020204020204" pitchFamily="34" charset="-122"/>
            </a:endParaRPr>
          </a:p>
        </p:txBody>
      </p:sp>
      <p:sp>
        <p:nvSpPr>
          <p:cNvPr id="4" name="页脚占位符 3">
            <a:extLst>
              <a:ext uri="{FF2B5EF4-FFF2-40B4-BE49-F238E27FC236}">
                <a16:creationId xmlns:a16="http://schemas.microsoft.com/office/drawing/2014/main" id="{640A9888-E1F0-4708-AA08-DE6E2D64D2A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微软雅黑" panose="020B0503020204020204" pitchFamily="34" charset="-122"/>
            </a:endParaRPr>
          </a:p>
        </p:txBody>
      </p:sp>
      <p:sp>
        <p:nvSpPr>
          <p:cNvPr id="5" name="灯片编号占位符 4">
            <a:extLst>
              <a:ext uri="{FF2B5EF4-FFF2-40B4-BE49-F238E27FC236}">
                <a16:creationId xmlns:a16="http://schemas.microsoft.com/office/drawing/2014/main" id="{621165FA-B796-4EC2-85CF-689140E88C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BA0CC0-866B-4CBF-8841-7D3673457D8C}" type="slidenum">
              <a:rPr lang="zh-CN" altLang="en-US" smtClean="0">
                <a:latin typeface="微软雅黑" panose="020B0503020204020204" pitchFamily="34" charset="-122"/>
              </a:rPr>
              <a:t>‹#›</a:t>
            </a:fld>
            <a:endParaRPr lang="zh-CN" altLang="en-US" dirty="0">
              <a:latin typeface="微软雅黑" panose="020B0503020204020204" pitchFamily="34" charset="-122"/>
            </a:endParaRPr>
          </a:p>
        </p:txBody>
      </p:sp>
    </p:spTree>
    <p:extLst>
      <p:ext uri="{BB962C8B-B14F-4D97-AF65-F5344CB8AC3E}">
        <p14:creationId xmlns:p14="http://schemas.microsoft.com/office/powerpoint/2010/main" val="2986230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16E3B816-54C2-3941-B2A8-4D0C3EE74E8E}" type="datetimeFigureOut">
              <a:rPr kumimoji="1" lang="zh-CN" altLang="en-US" smtClean="0"/>
              <a:pPr/>
              <a:t>2026/3/4</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编辑母版文本样式</a:t>
            </a:r>
          </a:p>
          <a:p>
            <a:pPr lvl="1"/>
            <a:r>
              <a:rPr kumimoji="1" lang="zh-CN" altLang="en-US" dirty="0"/>
              <a:t>第二级</a:t>
            </a:r>
          </a:p>
          <a:p>
            <a:pPr lvl="2"/>
            <a:r>
              <a:rPr kumimoji="1" lang="zh-CN" altLang="en-US" dirty="0"/>
              <a:t>第三级</a:t>
            </a:r>
          </a:p>
          <a:p>
            <a:pPr lvl="3"/>
            <a:r>
              <a:rPr kumimoji="1" lang="zh-CN" altLang="en-US" dirty="0"/>
              <a:t>第四级</a:t>
            </a:r>
          </a:p>
          <a:p>
            <a:pPr lvl="4"/>
            <a:r>
              <a:rPr kumimoji="1"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kumimoji="1" lang="zh-CN" altLang="en-US" dirty="0"/>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82C0F725-E3DF-0C4B-BF11-70D9CA73524E}" type="slidenum">
              <a:rPr kumimoji="1" lang="zh-CN" altLang="en-US" smtClean="0"/>
              <a:pPr/>
              <a:t>‹#›</a:t>
            </a:fld>
            <a:endParaRPr kumimoji="1" lang="zh-CN" altLang="en-US" dirty="0"/>
          </a:p>
        </p:txBody>
      </p:sp>
    </p:spTree>
    <p:extLst>
      <p:ext uri="{BB962C8B-B14F-4D97-AF65-F5344CB8AC3E}">
        <p14:creationId xmlns:p14="http://schemas.microsoft.com/office/powerpoint/2010/main" val="3347601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幻灯片编号占位符 3"/>
          <p:cNvSpPr>
            <a:spLocks noGrp="1"/>
          </p:cNvSpPr>
          <p:nvPr>
            <p:ph type="sldNum" sz="quarter" idx="10"/>
          </p:nvPr>
        </p:nvSpPr>
        <p:spPr/>
        <p:txBody>
          <a:bodyPr/>
          <a:lstStyle/>
          <a:p>
            <a:fld id="{82C0F725-E3DF-0C4B-BF11-70D9CA73524E}" type="slidenum">
              <a:rPr kumimoji="1" lang="zh-CN" altLang="en-US" smtClean="0"/>
              <a:t>1</a:t>
            </a:fld>
            <a:endParaRPr kumimoji="1" lang="zh-CN" altLang="en-US"/>
          </a:p>
        </p:txBody>
      </p:sp>
    </p:spTree>
    <p:extLst>
      <p:ext uri="{BB962C8B-B14F-4D97-AF65-F5344CB8AC3E}">
        <p14:creationId xmlns:p14="http://schemas.microsoft.com/office/powerpoint/2010/main" val="2480915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2</a:t>
            </a:fld>
            <a:endParaRPr kumimoji="1" lang="zh-CN" altLang="en-US" dirty="0"/>
          </a:p>
        </p:txBody>
      </p:sp>
    </p:spTree>
    <p:extLst>
      <p:ext uri="{BB962C8B-B14F-4D97-AF65-F5344CB8AC3E}">
        <p14:creationId xmlns:p14="http://schemas.microsoft.com/office/powerpoint/2010/main" val="1872517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3</a:t>
            </a:fld>
            <a:endParaRPr kumimoji="1" lang="zh-CN" altLang="en-US" dirty="0"/>
          </a:p>
        </p:txBody>
      </p:sp>
    </p:spTree>
    <p:extLst>
      <p:ext uri="{BB962C8B-B14F-4D97-AF65-F5344CB8AC3E}">
        <p14:creationId xmlns:p14="http://schemas.microsoft.com/office/powerpoint/2010/main" val="2760965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4</a:t>
            </a:fld>
            <a:endParaRPr kumimoji="1" lang="zh-CN" altLang="en-US" dirty="0"/>
          </a:p>
        </p:txBody>
      </p:sp>
    </p:spTree>
    <p:extLst>
      <p:ext uri="{BB962C8B-B14F-4D97-AF65-F5344CB8AC3E}">
        <p14:creationId xmlns:p14="http://schemas.microsoft.com/office/powerpoint/2010/main" val="680318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5</a:t>
            </a:fld>
            <a:endParaRPr kumimoji="1" lang="zh-CN" altLang="en-US" dirty="0"/>
          </a:p>
        </p:txBody>
      </p:sp>
    </p:spTree>
    <p:extLst>
      <p:ext uri="{BB962C8B-B14F-4D97-AF65-F5344CB8AC3E}">
        <p14:creationId xmlns:p14="http://schemas.microsoft.com/office/powerpoint/2010/main" val="3226508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6</a:t>
            </a:fld>
            <a:endParaRPr kumimoji="1" lang="zh-CN" altLang="en-US" dirty="0"/>
          </a:p>
        </p:txBody>
      </p:sp>
    </p:spTree>
    <p:extLst>
      <p:ext uri="{BB962C8B-B14F-4D97-AF65-F5344CB8AC3E}">
        <p14:creationId xmlns:p14="http://schemas.microsoft.com/office/powerpoint/2010/main" val="4192834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7</a:t>
            </a:fld>
            <a:endParaRPr kumimoji="1" lang="zh-CN" altLang="en-US" dirty="0"/>
          </a:p>
        </p:txBody>
      </p:sp>
    </p:spTree>
    <p:extLst>
      <p:ext uri="{BB962C8B-B14F-4D97-AF65-F5344CB8AC3E}">
        <p14:creationId xmlns:p14="http://schemas.microsoft.com/office/powerpoint/2010/main" val="3263008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8</a:t>
            </a:fld>
            <a:endParaRPr kumimoji="1" lang="zh-CN" altLang="en-US" dirty="0"/>
          </a:p>
        </p:txBody>
      </p:sp>
    </p:spTree>
    <p:extLst>
      <p:ext uri="{BB962C8B-B14F-4D97-AF65-F5344CB8AC3E}">
        <p14:creationId xmlns:p14="http://schemas.microsoft.com/office/powerpoint/2010/main" val="779497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9</a:t>
            </a:fld>
            <a:endParaRPr kumimoji="1" lang="zh-CN" altLang="en-US" dirty="0"/>
          </a:p>
        </p:txBody>
      </p:sp>
    </p:spTree>
    <p:extLst>
      <p:ext uri="{BB962C8B-B14F-4D97-AF65-F5344CB8AC3E}">
        <p14:creationId xmlns:p14="http://schemas.microsoft.com/office/powerpoint/2010/main" val="4933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10</a:t>
            </a:fld>
            <a:endParaRPr kumimoji="1" lang="zh-CN" altLang="en-US" dirty="0"/>
          </a:p>
        </p:txBody>
      </p:sp>
    </p:spTree>
    <p:extLst>
      <p:ext uri="{BB962C8B-B14F-4D97-AF65-F5344CB8AC3E}">
        <p14:creationId xmlns:p14="http://schemas.microsoft.com/office/powerpoint/2010/main" val="3992842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11</a:t>
            </a:fld>
            <a:endParaRPr kumimoji="1" lang="zh-CN" altLang="en-US" dirty="0"/>
          </a:p>
        </p:txBody>
      </p:sp>
    </p:spTree>
    <p:extLst>
      <p:ext uri="{BB962C8B-B14F-4D97-AF65-F5344CB8AC3E}">
        <p14:creationId xmlns:p14="http://schemas.microsoft.com/office/powerpoint/2010/main" val="118886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12</a:t>
            </a:fld>
            <a:endParaRPr kumimoji="1" lang="zh-CN" altLang="en-US" dirty="0"/>
          </a:p>
        </p:txBody>
      </p:sp>
    </p:spTree>
    <p:extLst>
      <p:ext uri="{BB962C8B-B14F-4D97-AF65-F5344CB8AC3E}">
        <p14:creationId xmlns:p14="http://schemas.microsoft.com/office/powerpoint/2010/main" val="981865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13</a:t>
            </a:fld>
            <a:endParaRPr kumimoji="1" lang="zh-CN" altLang="en-US" dirty="0"/>
          </a:p>
        </p:txBody>
      </p:sp>
    </p:spTree>
    <p:extLst>
      <p:ext uri="{BB962C8B-B14F-4D97-AF65-F5344CB8AC3E}">
        <p14:creationId xmlns:p14="http://schemas.microsoft.com/office/powerpoint/2010/main" val="25298000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14</a:t>
            </a:fld>
            <a:endParaRPr kumimoji="1" lang="zh-CN" altLang="en-US" dirty="0"/>
          </a:p>
        </p:txBody>
      </p:sp>
    </p:spTree>
    <p:extLst>
      <p:ext uri="{BB962C8B-B14F-4D97-AF65-F5344CB8AC3E}">
        <p14:creationId xmlns:p14="http://schemas.microsoft.com/office/powerpoint/2010/main" val="3966022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15</a:t>
            </a:fld>
            <a:endParaRPr kumimoji="1" lang="zh-CN" altLang="en-US" dirty="0"/>
          </a:p>
        </p:txBody>
      </p:sp>
    </p:spTree>
    <p:extLst>
      <p:ext uri="{BB962C8B-B14F-4D97-AF65-F5344CB8AC3E}">
        <p14:creationId xmlns:p14="http://schemas.microsoft.com/office/powerpoint/2010/main" val="2772159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16</a:t>
            </a:fld>
            <a:endParaRPr kumimoji="1" lang="zh-CN" altLang="en-US" dirty="0"/>
          </a:p>
        </p:txBody>
      </p:sp>
    </p:spTree>
    <p:extLst>
      <p:ext uri="{BB962C8B-B14F-4D97-AF65-F5344CB8AC3E}">
        <p14:creationId xmlns:p14="http://schemas.microsoft.com/office/powerpoint/2010/main" val="17102086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17</a:t>
            </a:fld>
            <a:endParaRPr kumimoji="1" lang="zh-CN" altLang="en-US" dirty="0"/>
          </a:p>
        </p:txBody>
      </p:sp>
    </p:spTree>
    <p:extLst>
      <p:ext uri="{BB962C8B-B14F-4D97-AF65-F5344CB8AC3E}">
        <p14:creationId xmlns:p14="http://schemas.microsoft.com/office/powerpoint/2010/main" val="17309792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18</a:t>
            </a:fld>
            <a:endParaRPr kumimoji="1" lang="zh-CN" altLang="en-US" dirty="0"/>
          </a:p>
        </p:txBody>
      </p:sp>
    </p:spTree>
    <p:extLst>
      <p:ext uri="{BB962C8B-B14F-4D97-AF65-F5344CB8AC3E}">
        <p14:creationId xmlns:p14="http://schemas.microsoft.com/office/powerpoint/2010/main" val="34568481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19</a:t>
            </a:fld>
            <a:endParaRPr kumimoji="1" lang="zh-CN" altLang="en-US" dirty="0"/>
          </a:p>
        </p:txBody>
      </p:sp>
    </p:spTree>
    <p:extLst>
      <p:ext uri="{BB962C8B-B14F-4D97-AF65-F5344CB8AC3E}">
        <p14:creationId xmlns:p14="http://schemas.microsoft.com/office/powerpoint/2010/main" val="33644653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20</a:t>
            </a:fld>
            <a:endParaRPr kumimoji="1" lang="zh-CN" altLang="en-US" dirty="0"/>
          </a:p>
        </p:txBody>
      </p:sp>
    </p:spTree>
    <p:extLst>
      <p:ext uri="{BB962C8B-B14F-4D97-AF65-F5344CB8AC3E}">
        <p14:creationId xmlns:p14="http://schemas.microsoft.com/office/powerpoint/2010/main" val="22438752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21</a:t>
            </a:fld>
            <a:endParaRPr kumimoji="1" lang="zh-CN" altLang="en-US" dirty="0"/>
          </a:p>
        </p:txBody>
      </p:sp>
    </p:spTree>
    <p:extLst>
      <p:ext uri="{BB962C8B-B14F-4D97-AF65-F5344CB8AC3E}">
        <p14:creationId xmlns:p14="http://schemas.microsoft.com/office/powerpoint/2010/main" val="1344000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22</a:t>
            </a:fld>
            <a:endParaRPr kumimoji="1" lang="zh-CN" altLang="en-US" dirty="0"/>
          </a:p>
        </p:txBody>
      </p:sp>
    </p:spTree>
    <p:extLst>
      <p:ext uri="{BB962C8B-B14F-4D97-AF65-F5344CB8AC3E}">
        <p14:creationId xmlns:p14="http://schemas.microsoft.com/office/powerpoint/2010/main" val="1629405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23</a:t>
            </a:fld>
            <a:endParaRPr kumimoji="1" lang="zh-CN" altLang="en-US" dirty="0"/>
          </a:p>
        </p:txBody>
      </p:sp>
    </p:spTree>
    <p:extLst>
      <p:ext uri="{BB962C8B-B14F-4D97-AF65-F5344CB8AC3E}">
        <p14:creationId xmlns:p14="http://schemas.microsoft.com/office/powerpoint/2010/main" val="14180277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24</a:t>
            </a:fld>
            <a:endParaRPr kumimoji="1" lang="zh-CN" altLang="en-US" dirty="0"/>
          </a:p>
        </p:txBody>
      </p:sp>
    </p:spTree>
    <p:extLst>
      <p:ext uri="{BB962C8B-B14F-4D97-AF65-F5344CB8AC3E}">
        <p14:creationId xmlns:p14="http://schemas.microsoft.com/office/powerpoint/2010/main" val="21818766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25</a:t>
            </a:fld>
            <a:endParaRPr kumimoji="1" lang="zh-CN" altLang="en-US" dirty="0"/>
          </a:p>
        </p:txBody>
      </p:sp>
    </p:spTree>
    <p:extLst>
      <p:ext uri="{BB962C8B-B14F-4D97-AF65-F5344CB8AC3E}">
        <p14:creationId xmlns:p14="http://schemas.microsoft.com/office/powerpoint/2010/main" val="14083140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26</a:t>
            </a:fld>
            <a:endParaRPr kumimoji="1" lang="zh-CN" altLang="en-US" dirty="0"/>
          </a:p>
        </p:txBody>
      </p:sp>
    </p:spTree>
    <p:extLst>
      <p:ext uri="{BB962C8B-B14F-4D97-AF65-F5344CB8AC3E}">
        <p14:creationId xmlns:p14="http://schemas.microsoft.com/office/powerpoint/2010/main" val="30385255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27</a:t>
            </a:fld>
            <a:endParaRPr kumimoji="1" lang="zh-CN" altLang="en-US" dirty="0"/>
          </a:p>
        </p:txBody>
      </p:sp>
    </p:spTree>
    <p:extLst>
      <p:ext uri="{BB962C8B-B14F-4D97-AF65-F5344CB8AC3E}">
        <p14:creationId xmlns:p14="http://schemas.microsoft.com/office/powerpoint/2010/main" val="26395588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28</a:t>
            </a:fld>
            <a:endParaRPr kumimoji="1" lang="zh-CN" altLang="en-US" dirty="0"/>
          </a:p>
        </p:txBody>
      </p:sp>
    </p:spTree>
    <p:extLst>
      <p:ext uri="{BB962C8B-B14F-4D97-AF65-F5344CB8AC3E}">
        <p14:creationId xmlns:p14="http://schemas.microsoft.com/office/powerpoint/2010/main" val="30612051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29</a:t>
            </a:fld>
            <a:endParaRPr kumimoji="1" lang="zh-CN" altLang="en-US" dirty="0"/>
          </a:p>
        </p:txBody>
      </p:sp>
    </p:spTree>
    <p:extLst>
      <p:ext uri="{BB962C8B-B14F-4D97-AF65-F5344CB8AC3E}">
        <p14:creationId xmlns:p14="http://schemas.microsoft.com/office/powerpoint/2010/main" val="31242897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30</a:t>
            </a:fld>
            <a:endParaRPr kumimoji="1" lang="zh-CN" altLang="en-US" dirty="0"/>
          </a:p>
        </p:txBody>
      </p:sp>
    </p:spTree>
    <p:extLst>
      <p:ext uri="{BB962C8B-B14F-4D97-AF65-F5344CB8AC3E}">
        <p14:creationId xmlns:p14="http://schemas.microsoft.com/office/powerpoint/2010/main" val="13205953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31</a:t>
            </a:fld>
            <a:endParaRPr kumimoji="1" lang="zh-CN" altLang="en-US" dirty="0"/>
          </a:p>
        </p:txBody>
      </p:sp>
    </p:spTree>
    <p:extLst>
      <p:ext uri="{BB962C8B-B14F-4D97-AF65-F5344CB8AC3E}">
        <p14:creationId xmlns:p14="http://schemas.microsoft.com/office/powerpoint/2010/main" val="17630769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32</a:t>
            </a:fld>
            <a:endParaRPr kumimoji="1" lang="zh-CN" altLang="en-US" dirty="0"/>
          </a:p>
        </p:txBody>
      </p:sp>
    </p:spTree>
    <p:extLst>
      <p:ext uri="{BB962C8B-B14F-4D97-AF65-F5344CB8AC3E}">
        <p14:creationId xmlns:p14="http://schemas.microsoft.com/office/powerpoint/2010/main" val="647565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33</a:t>
            </a:fld>
            <a:endParaRPr kumimoji="1" lang="zh-CN" altLang="en-US" dirty="0"/>
          </a:p>
        </p:txBody>
      </p:sp>
    </p:spTree>
    <p:extLst>
      <p:ext uri="{BB962C8B-B14F-4D97-AF65-F5344CB8AC3E}">
        <p14:creationId xmlns:p14="http://schemas.microsoft.com/office/powerpoint/2010/main" val="17466865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34</a:t>
            </a:fld>
            <a:endParaRPr kumimoji="1" lang="zh-CN" altLang="en-US" dirty="0"/>
          </a:p>
        </p:txBody>
      </p:sp>
    </p:spTree>
    <p:extLst>
      <p:ext uri="{BB962C8B-B14F-4D97-AF65-F5344CB8AC3E}">
        <p14:creationId xmlns:p14="http://schemas.microsoft.com/office/powerpoint/2010/main" val="5539197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35</a:t>
            </a:fld>
            <a:endParaRPr kumimoji="1" lang="zh-CN" altLang="en-US" dirty="0"/>
          </a:p>
        </p:txBody>
      </p:sp>
    </p:spTree>
    <p:extLst>
      <p:ext uri="{BB962C8B-B14F-4D97-AF65-F5344CB8AC3E}">
        <p14:creationId xmlns:p14="http://schemas.microsoft.com/office/powerpoint/2010/main" val="16087951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36</a:t>
            </a:fld>
            <a:endParaRPr kumimoji="1" lang="zh-CN" altLang="en-US" dirty="0"/>
          </a:p>
        </p:txBody>
      </p:sp>
    </p:spTree>
    <p:extLst>
      <p:ext uri="{BB962C8B-B14F-4D97-AF65-F5344CB8AC3E}">
        <p14:creationId xmlns:p14="http://schemas.microsoft.com/office/powerpoint/2010/main" val="7997664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37</a:t>
            </a:fld>
            <a:endParaRPr kumimoji="1" lang="zh-CN" altLang="en-US" dirty="0"/>
          </a:p>
        </p:txBody>
      </p:sp>
    </p:spTree>
    <p:extLst>
      <p:ext uri="{BB962C8B-B14F-4D97-AF65-F5344CB8AC3E}">
        <p14:creationId xmlns:p14="http://schemas.microsoft.com/office/powerpoint/2010/main" val="19878070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38</a:t>
            </a:fld>
            <a:endParaRPr kumimoji="1" lang="zh-CN" altLang="en-US" dirty="0"/>
          </a:p>
        </p:txBody>
      </p:sp>
    </p:spTree>
    <p:extLst>
      <p:ext uri="{BB962C8B-B14F-4D97-AF65-F5344CB8AC3E}">
        <p14:creationId xmlns:p14="http://schemas.microsoft.com/office/powerpoint/2010/main" val="486071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39</a:t>
            </a:fld>
            <a:endParaRPr kumimoji="1" lang="zh-CN" altLang="en-US" dirty="0"/>
          </a:p>
        </p:txBody>
      </p:sp>
    </p:spTree>
    <p:extLst>
      <p:ext uri="{BB962C8B-B14F-4D97-AF65-F5344CB8AC3E}">
        <p14:creationId xmlns:p14="http://schemas.microsoft.com/office/powerpoint/2010/main" val="14891983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40</a:t>
            </a:fld>
            <a:endParaRPr kumimoji="1" lang="zh-CN" altLang="en-US" dirty="0"/>
          </a:p>
        </p:txBody>
      </p:sp>
    </p:spTree>
    <p:extLst>
      <p:ext uri="{BB962C8B-B14F-4D97-AF65-F5344CB8AC3E}">
        <p14:creationId xmlns:p14="http://schemas.microsoft.com/office/powerpoint/2010/main" val="21153191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41</a:t>
            </a:fld>
            <a:endParaRPr kumimoji="1" lang="zh-CN" altLang="en-US" dirty="0"/>
          </a:p>
        </p:txBody>
      </p:sp>
    </p:spTree>
    <p:extLst>
      <p:ext uri="{BB962C8B-B14F-4D97-AF65-F5344CB8AC3E}">
        <p14:creationId xmlns:p14="http://schemas.microsoft.com/office/powerpoint/2010/main" val="38636203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42</a:t>
            </a:fld>
            <a:endParaRPr kumimoji="1" lang="zh-CN" altLang="en-US" dirty="0"/>
          </a:p>
        </p:txBody>
      </p:sp>
    </p:spTree>
    <p:extLst>
      <p:ext uri="{BB962C8B-B14F-4D97-AF65-F5344CB8AC3E}">
        <p14:creationId xmlns:p14="http://schemas.microsoft.com/office/powerpoint/2010/main" val="13333972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43</a:t>
            </a:fld>
            <a:endParaRPr kumimoji="1" lang="zh-CN" altLang="en-US" dirty="0"/>
          </a:p>
        </p:txBody>
      </p:sp>
    </p:spTree>
    <p:extLst>
      <p:ext uri="{BB962C8B-B14F-4D97-AF65-F5344CB8AC3E}">
        <p14:creationId xmlns:p14="http://schemas.microsoft.com/office/powerpoint/2010/main" val="25873097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44</a:t>
            </a:fld>
            <a:endParaRPr kumimoji="1" lang="zh-CN" altLang="en-US" dirty="0"/>
          </a:p>
        </p:txBody>
      </p:sp>
    </p:spTree>
    <p:extLst>
      <p:ext uri="{BB962C8B-B14F-4D97-AF65-F5344CB8AC3E}">
        <p14:creationId xmlns:p14="http://schemas.microsoft.com/office/powerpoint/2010/main" val="4773692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45</a:t>
            </a:fld>
            <a:endParaRPr kumimoji="1" lang="zh-CN" altLang="en-US" dirty="0"/>
          </a:p>
        </p:txBody>
      </p:sp>
    </p:spTree>
    <p:extLst>
      <p:ext uri="{BB962C8B-B14F-4D97-AF65-F5344CB8AC3E}">
        <p14:creationId xmlns:p14="http://schemas.microsoft.com/office/powerpoint/2010/main" val="32497659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46</a:t>
            </a:fld>
            <a:endParaRPr kumimoji="1" lang="zh-CN" altLang="en-US" dirty="0"/>
          </a:p>
        </p:txBody>
      </p:sp>
    </p:spTree>
    <p:extLst>
      <p:ext uri="{BB962C8B-B14F-4D97-AF65-F5344CB8AC3E}">
        <p14:creationId xmlns:p14="http://schemas.microsoft.com/office/powerpoint/2010/main" val="36273434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47</a:t>
            </a:fld>
            <a:endParaRPr kumimoji="1" lang="zh-CN" altLang="en-US" dirty="0"/>
          </a:p>
        </p:txBody>
      </p:sp>
    </p:spTree>
    <p:extLst>
      <p:ext uri="{BB962C8B-B14F-4D97-AF65-F5344CB8AC3E}">
        <p14:creationId xmlns:p14="http://schemas.microsoft.com/office/powerpoint/2010/main" val="36252638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48</a:t>
            </a:fld>
            <a:endParaRPr kumimoji="1" lang="zh-CN" altLang="en-US" dirty="0"/>
          </a:p>
        </p:txBody>
      </p:sp>
    </p:spTree>
    <p:extLst>
      <p:ext uri="{BB962C8B-B14F-4D97-AF65-F5344CB8AC3E}">
        <p14:creationId xmlns:p14="http://schemas.microsoft.com/office/powerpoint/2010/main" val="16608433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49</a:t>
            </a:fld>
            <a:endParaRPr kumimoji="1" lang="zh-CN" altLang="en-US" dirty="0"/>
          </a:p>
        </p:txBody>
      </p:sp>
    </p:spTree>
    <p:extLst>
      <p:ext uri="{BB962C8B-B14F-4D97-AF65-F5344CB8AC3E}">
        <p14:creationId xmlns:p14="http://schemas.microsoft.com/office/powerpoint/2010/main" val="5200737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2C0F725-E3DF-0C4B-BF11-70D9CA73524E}" type="slidenum">
              <a:rPr kumimoji="1" lang="zh-CN" altLang="en-US" smtClean="0"/>
              <a:t>50</a:t>
            </a:fld>
            <a:endParaRPr kumimoji="1" lang="zh-CN" altLang="en-US"/>
          </a:p>
        </p:txBody>
      </p:sp>
    </p:spTree>
    <p:extLst>
      <p:ext uri="{BB962C8B-B14F-4D97-AF65-F5344CB8AC3E}">
        <p14:creationId xmlns:p14="http://schemas.microsoft.com/office/powerpoint/2010/main" val="2449256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51</a:t>
            </a:fld>
            <a:endParaRPr kumimoji="1" lang="zh-CN" altLang="en-US" dirty="0"/>
          </a:p>
        </p:txBody>
      </p:sp>
    </p:spTree>
    <p:extLst>
      <p:ext uri="{BB962C8B-B14F-4D97-AF65-F5344CB8AC3E}">
        <p14:creationId xmlns:p14="http://schemas.microsoft.com/office/powerpoint/2010/main" val="41225011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5"/>
          </p:nvPr>
        </p:nvSpPr>
        <p:spPr/>
        <p:txBody>
          <a:bodyPr/>
          <a:lstStyle/>
          <a:p>
            <a:fld id="{82C0F725-E3DF-0C4B-BF11-70D9CA73524E}" type="slidenum">
              <a:rPr kumimoji="1" lang="zh-CN" altLang="en-US" smtClean="0"/>
              <a:pPr/>
              <a:t>52</a:t>
            </a:fld>
            <a:endParaRPr kumimoji="1" lang="zh-CN" altLang="en-US" dirty="0"/>
          </a:p>
        </p:txBody>
      </p:sp>
    </p:spTree>
    <p:extLst>
      <p:ext uri="{BB962C8B-B14F-4D97-AF65-F5344CB8AC3E}">
        <p14:creationId xmlns:p14="http://schemas.microsoft.com/office/powerpoint/2010/main" val="1549054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749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5" name="标题 1">
            <a:extLst>
              <a:ext uri="{FF2B5EF4-FFF2-40B4-BE49-F238E27FC236}">
                <a16:creationId xmlns:a16="http://schemas.microsoft.com/office/drawing/2014/main" id="{16D6BB21-E3F3-4F4B-AD8B-7742EDD31B63}"/>
              </a:ext>
            </a:extLst>
          </p:cNvPr>
          <p:cNvSpPr>
            <a:spLocks noGrp="1"/>
          </p:cNvSpPr>
          <p:nvPr>
            <p:ph type="title"/>
          </p:nvPr>
        </p:nvSpPr>
        <p:spPr>
          <a:xfrm>
            <a:off x="498231" y="189279"/>
            <a:ext cx="10515600" cy="635539"/>
          </a:xfrm>
          <a:ln>
            <a:noFill/>
          </a:ln>
        </p:spPr>
        <p:txBody>
          <a:bodyPr>
            <a:noAutofit/>
          </a:bodyPr>
          <a:lstStyle>
            <a:lvl1pPr>
              <a:defRPr sz="2800">
                <a:latin typeface="微软雅黑" panose="020B0503020204020204" pitchFamily="34" charset="-122"/>
                <a:ea typeface="微软雅黑" panose="020B0503020204020204" pitchFamily="34" charset="-122"/>
              </a:defRPr>
            </a:lvl1pPr>
          </a:lstStyle>
          <a:p>
            <a:endParaRPr kumimoji="1" lang="zh-CN" altLang="en-US" dirty="0"/>
          </a:p>
        </p:txBody>
      </p:sp>
      <p:cxnSp>
        <p:nvCxnSpPr>
          <p:cNvPr id="26" name="直接连接符 25">
            <a:extLst>
              <a:ext uri="{FF2B5EF4-FFF2-40B4-BE49-F238E27FC236}">
                <a16:creationId xmlns:a16="http://schemas.microsoft.com/office/drawing/2014/main" id="{9813806C-BB95-46AC-961D-19DE5DA2B9C4}"/>
              </a:ext>
            </a:extLst>
          </p:cNvPr>
          <p:cNvCxnSpPr>
            <a:cxnSpLocks/>
          </p:cNvCxnSpPr>
          <p:nvPr userDrawn="1"/>
        </p:nvCxnSpPr>
        <p:spPr>
          <a:xfrm>
            <a:off x="498231" y="824818"/>
            <a:ext cx="10515600" cy="0"/>
          </a:xfrm>
          <a:prstGeom prst="line">
            <a:avLst/>
          </a:prstGeom>
          <a:ln>
            <a:solidFill>
              <a:schemeClr val="bg2">
                <a:lumMod val="9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74657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47F829-C0A2-9B43-8F07-1FB234ADBBA7}"/>
              </a:ext>
            </a:extLst>
          </p:cNvPr>
          <p:cNvSpPr>
            <a:spLocks noGrp="1"/>
          </p:cNvSpPr>
          <p:nvPr>
            <p:ph type="title"/>
          </p:nvPr>
        </p:nvSpPr>
        <p:spPr>
          <a:xfrm>
            <a:off x="838200" y="365125"/>
            <a:ext cx="10515600" cy="635539"/>
          </a:xfrm>
          <a:ln>
            <a:noFill/>
          </a:ln>
        </p:spPr>
        <p:txBody>
          <a:bodyPr>
            <a:noAutofit/>
          </a:bodyPr>
          <a:lstStyle>
            <a:lvl1pPr>
              <a:defRPr sz="2800">
                <a:latin typeface="微软雅黑" panose="020B0503020204020204" pitchFamily="34" charset="-122"/>
                <a:ea typeface="微软雅黑" panose="020B0503020204020204" pitchFamily="34" charset="-122"/>
              </a:defRPr>
            </a:lvl1pPr>
          </a:lstStyle>
          <a:p>
            <a:endParaRPr kumimoji="1" lang="zh-CN" altLang="en-US" dirty="0"/>
          </a:p>
        </p:txBody>
      </p:sp>
      <p:cxnSp>
        <p:nvCxnSpPr>
          <p:cNvPr id="8" name="直接连接符 7">
            <a:extLst>
              <a:ext uri="{FF2B5EF4-FFF2-40B4-BE49-F238E27FC236}">
                <a16:creationId xmlns:a16="http://schemas.microsoft.com/office/drawing/2014/main" id="{D9390404-5D01-4F99-A50B-4B8E25E927DA}"/>
              </a:ext>
            </a:extLst>
          </p:cNvPr>
          <p:cNvCxnSpPr>
            <a:cxnSpLocks/>
          </p:cNvCxnSpPr>
          <p:nvPr userDrawn="1"/>
        </p:nvCxnSpPr>
        <p:spPr>
          <a:xfrm>
            <a:off x="838200" y="1000664"/>
            <a:ext cx="10515600" cy="0"/>
          </a:xfrm>
          <a:prstGeom prst="line">
            <a:avLst/>
          </a:prstGeom>
          <a:ln>
            <a:solidFill>
              <a:schemeClr val="bg2">
                <a:lumMod val="5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88341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F38C271-F282-9842-947D-76C6680ECE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4EA93AB-B74C-9D4E-BD8F-A7D5B019C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编辑母版文本样式</a:t>
            </a:r>
          </a:p>
          <a:p>
            <a:pPr lvl="1"/>
            <a:r>
              <a:rPr kumimoji="1" lang="zh-CN" altLang="en-US" dirty="0"/>
              <a:t>第二级</a:t>
            </a:r>
          </a:p>
          <a:p>
            <a:pPr lvl="2"/>
            <a:r>
              <a:rPr kumimoji="1" lang="zh-CN" altLang="en-US" dirty="0"/>
              <a:t>第三级</a:t>
            </a:r>
          </a:p>
          <a:p>
            <a:pPr lvl="3"/>
            <a:r>
              <a:rPr kumimoji="1" lang="zh-CN" altLang="en-US" dirty="0"/>
              <a:t>第四级</a:t>
            </a:r>
          </a:p>
          <a:p>
            <a:pPr lvl="4"/>
            <a:r>
              <a:rPr kumimoji="1" lang="zh-CN" altLang="en-US" dirty="0"/>
              <a:t>第五级</a:t>
            </a:r>
          </a:p>
        </p:txBody>
      </p:sp>
      <p:sp>
        <p:nvSpPr>
          <p:cNvPr id="4" name="日期占位符 3">
            <a:extLst>
              <a:ext uri="{FF2B5EF4-FFF2-40B4-BE49-F238E27FC236}">
                <a16:creationId xmlns:a16="http://schemas.microsoft.com/office/drawing/2014/main" id="{C3E6C1BD-44D5-7B4C-85BA-D514482EC7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C7443BC4-7722-104F-8F84-3F3F8267F81E}" type="datetimeFigureOut">
              <a:rPr kumimoji="1" lang="zh-CN" altLang="en-US" smtClean="0"/>
              <a:pPr/>
              <a:t>2026/3/4</a:t>
            </a:fld>
            <a:endParaRPr kumimoji="1" lang="zh-CN" altLang="en-US" dirty="0"/>
          </a:p>
        </p:txBody>
      </p:sp>
      <p:sp>
        <p:nvSpPr>
          <p:cNvPr id="5" name="页脚占位符 4">
            <a:extLst>
              <a:ext uri="{FF2B5EF4-FFF2-40B4-BE49-F238E27FC236}">
                <a16:creationId xmlns:a16="http://schemas.microsoft.com/office/drawing/2014/main" id="{F0BA4B2C-C80D-8E4C-B791-8253FE761A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kumimoji="1" lang="zh-CN" altLang="en-US" dirty="0"/>
          </a:p>
        </p:txBody>
      </p:sp>
      <p:sp>
        <p:nvSpPr>
          <p:cNvPr id="6" name="幻灯片编号占位符 5">
            <a:extLst>
              <a:ext uri="{FF2B5EF4-FFF2-40B4-BE49-F238E27FC236}">
                <a16:creationId xmlns:a16="http://schemas.microsoft.com/office/drawing/2014/main" id="{4395A10A-9975-F34C-BE81-CC921D91BB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AE4EE78D-D6FC-AA40-ABD7-46F5011CD857}" type="slidenum">
              <a:rPr kumimoji="1" lang="zh-CN" altLang="en-US" smtClean="0"/>
              <a:pPr/>
              <a:t>‹#›</a:t>
            </a:fld>
            <a:endParaRPr kumimoji="1" lang="zh-CN" altLang="en-US" dirty="0"/>
          </a:p>
        </p:txBody>
      </p:sp>
    </p:spTree>
    <p:extLst>
      <p:ext uri="{BB962C8B-B14F-4D97-AF65-F5344CB8AC3E}">
        <p14:creationId xmlns:p14="http://schemas.microsoft.com/office/powerpoint/2010/main" val="2819461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CEDE506C-830A-40DA-9135-D1730B9028FB}"/>
              </a:ext>
            </a:extLst>
          </p:cNvPr>
          <p:cNvSpPr txBox="1">
            <a:spLocks/>
          </p:cNvSpPr>
          <p:nvPr/>
        </p:nvSpPr>
        <p:spPr>
          <a:xfrm>
            <a:off x="1281737" y="1627078"/>
            <a:ext cx="9144000" cy="77491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kumimoji="1" lang="zh-CN" altLang="en-US" sz="4000" b="1" dirty="0">
                <a:latin typeface="微软雅黑" panose="020B0503020204020204" pitchFamily="34" charset="-122"/>
                <a:ea typeface="微软雅黑" panose="020B0503020204020204" pitchFamily="34" charset="-122"/>
              </a:rPr>
              <a:t>实时性能剖析库</a:t>
            </a:r>
            <a:r>
              <a:rPr kumimoji="1" lang="en-US" altLang="zh-CN" sz="4000" b="1" dirty="0">
                <a:latin typeface="微软雅黑" panose="020B0503020204020204" pitchFamily="34" charset="-122"/>
                <a:ea typeface="微软雅黑" panose="020B0503020204020204" pitchFamily="34" charset="-122"/>
              </a:rPr>
              <a:t>ZPROF</a:t>
            </a:r>
            <a:endParaRPr kumimoji="1" lang="zh-CN" altLang="en-US" sz="4000" b="1" dirty="0">
              <a:latin typeface="Microsoft YaHei" panose="020B0503020204020204" pitchFamily="34" charset="-122"/>
              <a:ea typeface="Microsoft YaHei" panose="020B0503020204020204" pitchFamily="34" charset="-122"/>
            </a:endParaRPr>
          </a:p>
        </p:txBody>
      </p:sp>
      <p:cxnSp>
        <p:nvCxnSpPr>
          <p:cNvPr id="14" name="直线连接符 7">
            <a:extLst>
              <a:ext uri="{FF2B5EF4-FFF2-40B4-BE49-F238E27FC236}">
                <a16:creationId xmlns:a16="http://schemas.microsoft.com/office/drawing/2014/main" id="{03833FBB-F7BD-47BE-9C5E-EE3A5D3FB133}"/>
              </a:ext>
            </a:extLst>
          </p:cNvPr>
          <p:cNvCxnSpPr>
            <a:cxnSpLocks/>
          </p:cNvCxnSpPr>
          <p:nvPr/>
        </p:nvCxnSpPr>
        <p:spPr>
          <a:xfrm>
            <a:off x="1281737" y="2561277"/>
            <a:ext cx="6888915" cy="0"/>
          </a:xfrm>
          <a:prstGeom prst="line">
            <a:avLst/>
          </a:prstGeom>
          <a:ln>
            <a:solidFill>
              <a:schemeClr val="tx1">
                <a:lumMod val="95000"/>
                <a:lumOff val="5000"/>
                <a:alpha val="11000"/>
              </a:schemeClr>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3CD5E99F-6D08-4455-B35A-AB1D952A1FD6}"/>
              </a:ext>
            </a:extLst>
          </p:cNvPr>
          <p:cNvSpPr txBox="1"/>
          <p:nvPr/>
        </p:nvSpPr>
        <p:spPr>
          <a:xfrm>
            <a:off x="6266544" y="2766812"/>
            <a:ext cx="3514725" cy="400110"/>
          </a:xfrm>
          <a:prstGeom prst="rect">
            <a:avLst/>
          </a:prstGeom>
          <a:noFill/>
        </p:spPr>
        <p:txBody>
          <a:bodyPr wrap="square" rtlCol="0">
            <a:spAutoFit/>
          </a:bodyPr>
          <a:lstStyle/>
          <a:p>
            <a:pPr algn="ctr"/>
            <a:r>
              <a:rPr lang="zh-CN" altLang="en-US" sz="2000" b="1" dirty="0"/>
              <a:t>张亚伟</a:t>
            </a:r>
          </a:p>
        </p:txBody>
      </p:sp>
      <p:sp>
        <p:nvSpPr>
          <p:cNvPr id="8" name="文本框 7">
            <a:extLst>
              <a:ext uri="{FF2B5EF4-FFF2-40B4-BE49-F238E27FC236}">
                <a16:creationId xmlns:a16="http://schemas.microsoft.com/office/drawing/2014/main" id="{66A677DC-677F-4E4D-B2B1-57729088AA7B}"/>
              </a:ext>
            </a:extLst>
          </p:cNvPr>
          <p:cNvSpPr txBox="1"/>
          <p:nvPr/>
        </p:nvSpPr>
        <p:spPr>
          <a:xfrm>
            <a:off x="5355346" y="3328922"/>
            <a:ext cx="4407781" cy="400110"/>
          </a:xfrm>
          <a:prstGeom prst="rect">
            <a:avLst/>
          </a:prstGeom>
          <a:noFill/>
        </p:spPr>
        <p:txBody>
          <a:bodyPr wrap="square" rtlCol="0">
            <a:spAutoFit/>
          </a:bodyPr>
          <a:lstStyle/>
          <a:p>
            <a:pPr algn="ctr"/>
            <a:r>
              <a:rPr lang="en-US" altLang="zh-CN" sz="2000" dirty="0"/>
              <a:t>version</a:t>
            </a:r>
            <a:r>
              <a:rPr lang="zh-CN" altLang="en-US" sz="2000" dirty="0"/>
              <a:t>：</a:t>
            </a:r>
            <a:r>
              <a:rPr lang="en-US" altLang="zh-CN" sz="2000" dirty="0"/>
              <a:t>2021/5/27</a:t>
            </a:r>
            <a:endParaRPr lang="zh-CN" altLang="en-US" sz="2000" dirty="0"/>
          </a:p>
        </p:txBody>
      </p:sp>
    </p:spTree>
    <p:extLst>
      <p:ext uri="{BB962C8B-B14F-4D97-AF65-F5344CB8AC3E}">
        <p14:creationId xmlns:p14="http://schemas.microsoft.com/office/powerpoint/2010/main" val="757832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需求背景</a:t>
            </a:r>
          </a:p>
        </p:txBody>
      </p:sp>
      <p:sp>
        <p:nvSpPr>
          <p:cNvPr id="4" name="矩形 3">
            <a:extLst>
              <a:ext uri="{FF2B5EF4-FFF2-40B4-BE49-F238E27FC236}">
                <a16:creationId xmlns:a16="http://schemas.microsoft.com/office/drawing/2014/main" id="{5C735702-CD43-403F-8343-DFFFA4AD2A85}"/>
              </a:ext>
            </a:extLst>
          </p:cNvPr>
          <p:cNvSpPr/>
          <p:nvPr/>
        </p:nvSpPr>
        <p:spPr>
          <a:xfrm>
            <a:off x="850232" y="1251285"/>
            <a:ext cx="3080084"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000" b="1" dirty="0">
                <a:latin typeface="等线" panose="02010600030101010101" pitchFamily="2" charset="-122"/>
                <a:ea typeface="等线" panose="02010600030101010101" pitchFamily="2" charset="-122"/>
              </a:rPr>
              <a:t>Gameplay</a:t>
            </a:r>
            <a:r>
              <a:rPr lang="zh-CN" altLang="en-US" sz="2000" b="1" dirty="0">
                <a:latin typeface="等线" panose="02010600030101010101" pitchFamily="2" charset="-122"/>
                <a:ea typeface="等线" panose="02010600030101010101" pitchFamily="2" charset="-122"/>
              </a:rPr>
              <a:t>的实时性要求</a:t>
            </a:r>
          </a:p>
        </p:txBody>
      </p:sp>
      <p:sp>
        <p:nvSpPr>
          <p:cNvPr id="6" name="矩形 5">
            <a:extLst>
              <a:ext uri="{FF2B5EF4-FFF2-40B4-BE49-F238E27FC236}">
                <a16:creationId xmlns:a16="http://schemas.microsoft.com/office/drawing/2014/main" id="{A54C11FE-4E75-4B2B-900A-FF0D1B888161}"/>
              </a:ext>
            </a:extLst>
          </p:cNvPr>
          <p:cNvSpPr/>
          <p:nvPr/>
        </p:nvSpPr>
        <p:spPr>
          <a:xfrm>
            <a:off x="850232" y="3930317"/>
            <a:ext cx="3080084"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b="1" dirty="0">
                <a:latin typeface="等线" panose="02010600030101010101" pitchFamily="2" charset="-122"/>
                <a:ea typeface="等线" panose="02010600030101010101" pitchFamily="2" charset="-122"/>
              </a:rPr>
              <a:t>优化三部曲</a:t>
            </a:r>
          </a:p>
        </p:txBody>
      </p:sp>
      <p:sp>
        <p:nvSpPr>
          <p:cNvPr id="7" name="矩形 6">
            <a:extLst>
              <a:ext uri="{FF2B5EF4-FFF2-40B4-BE49-F238E27FC236}">
                <a16:creationId xmlns:a16="http://schemas.microsoft.com/office/drawing/2014/main" id="{DBCC4641-3623-4435-858C-08012D393E70}"/>
              </a:ext>
            </a:extLst>
          </p:cNvPr>
          <p:cNvSpPr/>
          <p:nvPr/>
        </p:nvSpPr>
        <p:spPr>
          <a:xfrm>
            <a:off x="4420225" y="2971800"/>
            <a:ext cx="2671612"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等线" panose="02010600030101010101" pitchFamily="2" charset="-122"/>
                <a:ea typeface="等线" panose="02010600030101010101" pitchFamily="2" charset="-122"/>
              </a:rPr>
              <a:t>性能剖面</a:t>
            </a:r>
            <a:r>
              <a:rPr lang="zh-CN" altLang="en-US" sz="2000" b="1" dirty="0">
                <a:latin typeface="等线" panose="02010600030101010101" pitchFamily="2" charset="-122"/>
                <a:ea typeface="等线" panose="02010600030101010101" pitchFamily="2" charset="-122"/>
              </a:rPr>
              <a:t>监控</a:t>
            </a:r>
          </a:p>
        </p:txBody>
      </p:sp>
      <p:sp>
        <p:nvSpPr>
          <p:cNvPr id="8" name="矩形 7">
            <a:extLst>
              <a:ext uri="{FF2B5EF4-FFF2-40B4-BE49-F238E27FC236}">
                <a16:creationId xmlns:a16="http://schemas.microsoft.com/office/drawing/2014/main" id="{0D40D789-D05F-4CF4-9749-6C04CBA33FA7}"/>
              </a:ext>
            </a:extLst>
          </p:cNvPr>
          <p:cNvSpPr/>
          <p:nvPr/>
        </p:nvSpPr>
        <p:spPr>
          <a:xfrm>
            <a:off x="4420225" y="4174958"/>
            <a:ext cx="2671612"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等线" panose="02010600030101010101" pitchFamily="2" charset="-122"/>
                <a:ea typeface="等线" panose="02010600030101010101" pitchFamily="2" charset="-122"/>
              </a:rPr>
              <a:t>性能</a:t>
            </a:r>
            <a:r>
              <a:rPr lang="zh-CN" altLang="en-US" sz="2000" b="1" dirty="0">
                <a:latin typeface="等线" panose="02010600030101010101" pitchFamily="2" charset="-122"/>
                <a:ea typeface="等线" panose="02010600030101010101" pitchFamily="2" charset="-122"/>
              </a:rPr>
              <a:t>分析</a:t>
            </a:r>
          </a:p>
        </p:txBody>
      </p:sp>
      <p:sp>
        <p:nvSpPr>
          <p:cNvPr id="9" name="矩形 8">
            <a:extLst>
              <a:ext uri="{FF2B5EF4-FFF2-40B4-BE49-F238E27FC236}">
                <a16:creationId xmlns:a16="http://schemas.microsoft.com/office/drawing/2014/main" id="{0AD0A19D-EECE-44DA-A78D-7FF4CC7F4DF8}"/>
              </a:ext>
            </a:extLst>
          </p:cNvPr>
          <p:cNvSpPr/>
          <p:nvPr/>
        </p:nvSpPr>
        <p:spPr>
          <a:xfrm>
            <a:off x="4420225" y="5378116"/>
            <a:ext cx="2671612"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等线" panose="02010600030101010101" pitchFamily="2" charset="-122"/>
                <a:ea typeface="等线" panose="02010600030101010101" pitchFamily="2" charset="-122"/>
              </a:rPr>
              <a:t>性能</a:t>
            </a:r>
            <a:r>
              <a:rPr lang="zh-CN" altLang="en-US" sz="2000" b="1" dirty="0">
                <a:latin typeface="等线" panose="02010600030101010101" pitchFamily="2" charset="-122"/>
                <a:ea typeface="等线" panose="02010600030101010101" pitchFamily="2" charset="-122"/>
              </a:rPr>
              <a:t>优化</a:t>
            </a:r>
          </a:p>
        </p:txBody>
      </p:sp>
      <p:sp>
        <p:nvSpPr>
          <p:cNvPr id="10" name="矩形 9">
            <a:extLst>
              <a:ext uri="{FF2B5EF4-FFF2-40B4-BE49-F238E27FC236}">
                <a16:creationId xmlns:a16="http://schemas.microsoft.com/office/drawing/2014/main" id="{E72610CE-8A8F-4105-9A29-149B59658548}"/>
              </a:ext>
            </a:extLst>
          </p:cNvPr>
          <p:cNvSpPr/>
          <p:nvPr/>
        </p:nvSpPr>
        <p:spPr>
          <a:xfrm>
            <a:off x="7708857" y="4174958"/>
            <a:ext cx="2671612"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等线" panose="02010600030101010101" pitchFamily="2" charset="-122"/>
                <a:ea typeface="等线" panose="02010600030101010101" pitchFamily="2" charset="-122"/>
              </a:rPr>
              <a:t>性能</a:t>
            </a:r>
            <a:r>
              <a:rPr lang="zh-CN" altLang="en-US" sz="2000" b="1" dirty="0">
                <a:latin typeface="等线" panose="02010600030101010101" pitchFamily="2" charset="-122"/>
                <a:ea typeface="等线" panose="02010600030101010101" pitchFamily="2" charset="-122"/>
              </a:rPr>
              <a:t>验证</a:t>
            </a:r>
            <a:r>
              <a:rPr lang="zh-CN" altLang="en-US" sz="2000" dirty="0">
                <a:latin typeface="等线" panose="02010600030101010101" pitchFamily="2" charset="-122"/>
                <a:ea typeface="等线" panose="02010600030101010101" pitchFamily="2" charset="-122"/>
              </a:rPr>
              <a:t>和持续保持</a:t>
            </a:r>
          </a:p>
        </p:txBody>
      </p:sp>
      <p:cxnSp>
        <p:nvCxnSpPr>
          <p:cNvPr id="12" name="直接箭头连接符 11">
            <a:extLst>
              <a:ext uri="{FF2B5EF4-FFF2-40B4-BE49-F238E27FC236}">
                <a16:creationId xmlns:a16="http://schemas.microsoft.com/office/drawing/2014/main" id="{942DF615-D5A4-495D-9FD2-98683DDFCE20}"/>
              </a:ext>
            </a:extLst>
          </p:cNvPr>
          <p:cNvCxnSpPr>
            <a:stCxn id="7" idx="2"/>
            <a:endCxn id="8" idx="0"/>
          </p:cNvCxnSpPr>
          <p:nvPr/>
        </p:nvCxnSpPr>
        <p:spPr>
          <a:xfrm>
            <a:off x="5756031" y="3886200"/>
            <a:ext cx="0" cy="288758"/>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4" name="直接箭头连接符 13">
            <a:extLst>
              <a:ext uri="{FF2B5EF4-FFF2-40B4-BE49-F238E27FC236}">
                <a16:creationId xmlns:a16="http://schemas.microsoft.com/office/drawing/2014/main" id="{5F5A139C-F219-4AE1-8C73-45CC9981EB67}"/>
              </a:ext>
            </a:extLst>
          </p:cNvPr>
          <p:cNvCxnSpPr>
            <a:stCxn id="8" idx="2"/>
            <a:endCxn id="9" idx="0"/>
          </p:cNvCxnSpPr>
          <p:nvPr/>
        </p:nvCxnSpPr>
        <p:spPr>
          <a:xfrm>
            <a:off x="5756031" y="5089358"/>
            <a:ext cx="0" cy="288758"/>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6" name="连接符: 肘形 15">
            <a:extLst>
              <a:ext uri="{FF2B5EF4-FFF2-40B4-BE49-F238E27FC236}">
                <a16:creationId xmlns:a16="http://schemas.microsoft.com/office/drawing/2014/main" id="{2F8C2510-7C42-4130-86F8-9E64C33A2247}"/>
              </a:ext>
            </a:extLst>
          </p:cNvPr>
          <p:cNvCxnSpPr>
            <a:stCxn id="9" idx="2"/>
            <a:endCxn id="10" idx="2"/>
          </p:cNvCxnSpPr>
          <p:nvPr/>
        </p:nvCxnSpPr>
        <p:spPr>
          <a:xfrm rot="5400000" flipH="1" flipV="1">
            <a:off x="6798768" y="4046621"/>
            <a:ext cx="1203158" cy="3288632"/>
          </a:xfrm>
          <a:prstGeom prst="bentConnector3">
            <a:avLst>
              <a:gd name="adj1" fmla="val -19000"/>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8" name="连接符: 肘形 17">
            <a:extLst>
              <a:ext uri="{FF2B5EF4-FFF2-40B4-BE49-F238E27FC236}">
                <a16:creationId xmlns:a16="http://schemas.microsoft.com/office/drawing/2014/main" id="{E5039382-B2B0-4C65-B024-AD2C5E3C0567}"/>
              </a:ext>
            </a:extLst>
          </p:cNvPr>
          <p:cNvCxnSpPr>
            <a:stCxn id="10" idx="0"/>
            <a:endCxn id="7" idx="0"/>
          </p:cNvCxnSpPr>
          <p:nvPr/>
        </p:nvCxnSpPr>
        <p:spPr>
          <a:xfrm rot="16200000" flipV="1">
            <a:off x="6798768" y="1929063"/>
            <a:ext cx="1203158" cy="3288632"/>
          </a:xfrm>
          <a:prstGeom prst="bentConnector3">
            <a:avLst>
              <a:gd name="adj1" fmla="val 119000"/>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19" name="矩形 18">
            <a:extLst>
              <a:ext uri="{FF2B5EF4-FFF2-40B4-BE49-F238E27FC236}">
                <a16:creationId xmlns:a16="http://schemas.microsoft.com/office/drawing/2014/main" id="{67C0B3D5-D28C-4B37-BFFE-173E21CAAB37}"/>
              </a:ext>
            </a:extLst>
          </p:cNvPr>
          <p:cNvSpPr/>
          <p:nvPr/>
        </p:nvSpPr>
        <p:spPr>
          <a:xfrm>
            <a:off x="4420225" y="1251285"/>
            <a:ext cx="3080084"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000" dirty="0">
                <a:latin typeface="等线" panose="02010600030101010101" pitchFamily="2" charset="-122"/>
                <a:ea typeface="等线" panose="02010600030101010101" pitchFamily="2" charset="-122"/>
              </a:rPr>
              <a:t>高频</a:t>
            </a:r>
            <a:r>
              <a:rPr lang="en-US" altLang="zh-CN" sz="2000" dirty="0">
                <a:latin typeface="等线" panose="02010600030101010101" pitchFamily="2" charset="-122"/>
                <a:ea typeface="等线" panose="02010600030101010101" pitchFamily="2" charset="-122"/>
              </a:rPr>
              <a:t>TICK 10ms~50ms</a:t>
            </a:r>
            <a:endParaRPr lang="zh-CN" altLang="en-US" sz="2000" dirty="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430985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常见计时方法对比</a:t>
            </a:r>
          </a:p>
        </p:txBody>
      </p:sp>
      <p:pic>
        <p:nvPicPr>
          <p:cNvPr id="5" name="图片 4">
            <a:extLst>
              <a:ext uri="{FF2B5EF4-FFF2-40B4-BE49-F238E27FC236}">
                <a16:creationId xmlns:a16="http://schemas.microsoft.com/office/drawing/2014/main" id="{7E4AA117-AEF8-405E-8684-1E32769A273F}"/>
              </a:ext>
            </a:extLst>
          </p:cNvPr>
          <p:cNvPicPr>
            <a:picLocks noChangeAspect="1"/>
          </p:cNvPicPr>
          <p:nvPr/>
        </p:nvPicPr>
        <p:blipFill>
          <a:blip r:embed="rId3"/>
          <a:stretch>
            <a:fillRect/>
          </a:stretch>
        </p:blipFill>
        <p:spPr>
          <a:xfrm>
            <a:off x="498230" y="952019"/>
            <a:ext cx="10285329" cy="5716702"/>
          </a:xfrm>
          <a:prstGeom prst="rect">
            <a:avLst/>
          </a:prstGeom>
        </p:spPr>
      </p:pic>
    </p:spTree>
    <p:extLst>
      <p:ext uri="{BB962C8B-B14F-4D97-AF65-F5344CB8AC3E}">
        <p14:creationId xmlns:p14="http://schemas.microsoft.com/office/powerpoint/2010/main" val="499165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问题</a:t>
            </a:r>
            <a:r>
              <a:rPr lang="en-US" altLang="zh-CN" dirty="0"/>
              <a:t>: </a:t>
            </a:r>
            <a:r>
              <a:rPr lang="zh-CN" altLang="en-US" dirty="0"/>
              <a:t>漂变问题</a:t>
            </a:r>
          </a:p>
        </p:txBody>
      </p:sp>
      <p:sp>
        <p:nvSpPr>
          <p:cNvPr id="3" name="矩形 2">
            <a:extLst>
              <a:ext uri="{FF2B5EF4-FFF2-40B4-BE49-F238E27FC236}">
                <a16:creationId xmlns:a16="http://schemas.microsoft.com/office/drawing/2014/main" id="{F06CAF4A-A9D7-40D3-8616-E400D38CCAD0}"/>
              </a:ext>
            </a:extLst>
          </p:cNvPr>
          <p:cNvSpPr/>
          <p:nvPr/>
        </p:nvSpPr>
        <p:spPr>
          <a:xfrm>
            <a:off x="1091381" y="1172497"/>
            <a:ext cx="685800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多核环境下跨核心调度可能导致的时间戳漂变问题</a:t>
            </a:r>
          </a:p>
        </p:txBody>
      </p:sp>
      <p:sp>
        <p:nvSpPr>
          <p:cNvPr id="15" name="矩形 14">
            <a:extLst>
              <a:ext uri="{FF2B5EF4-FFF2-40B4-BE49-F238E27FC236}">
                <a16:creationId xmlns:a16="http://schemas.microsoft.com/office/drawing/2014/main" id="{E414C548-4CCB-4DB4-B7B5-2615D9E4DD9D}"/>
              </a:ext>
            </a:extLst>
          </p:cNvPr>
          <p:cNvSpPr/>
          <p:nvPr/>
        </p:nvSpPr>
        <p:spPr>
          <a:xfrm>
            <a:off x="1091381" y="2191786"/>
            <a:ext cx="685800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睿频和电源管理带来的动态降频</a:t>
            </a:r>
            <a:r>
              <a:rPr lang="en-US" altLang="zh-CN" dirty="0"/>
              <a:t>(P0~PN state)</a:t>
            </a:r>
            <a:endParaRPr lang="zh-CN" altLang="en-US" dirty="0"/>
          </a:p>
        </p:txBody>
      </p:sp>
      <p:pic>
        <p:nvPicPr>
          <p:cNvPr id="4" name="图片 3">
            <a:extLst>
              <a:ext uri="{FF2B5EF4-FFF2-40B4-BE49-F238E27FC236}">
                <a16:creationId xmlns:a16="http://schemas.microsoft.com/office/drawing/2014/main" id="{27BC7F06-378D-4580-8330-DCAAB399D013}"/>
              </a:ext>
            </a:extLst>
          </p:cNvPr>
          <p:cNvPicPr>
            <a:picLocks noChangeAspect="1"/>
          </p:cNvPicPr>
          <p:nvPr/>
        </p:nvPicPr>
        <p:blipFill>
          <a:blip r:embed="rId3"/>
          <a:stretch>
            <a:fillRect/>
          </a:stretch>
        </p:blipFill>
        <p:spPr>
          <a:xfrm>
            <a:off x="1091825" y="3452480"/>
            <a:ext cx="6857556" cy="923133"/>
          </a:xfrm>
          <a:prstGeom prst="rect">
            <a:avLst/>
          </a:prstGeom>
        </p:spPr>
      </p:pic>
    </p:spTree>
    <p:extLst>
      <p:ext uri="{BB962C8B-B14F-4D97-AF65-F5344CB8AC3E}">
        <p14:creationId xmlns:p14="http://schemas.microsoft.com/office/powerpoint/2010/main" val="827882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a:t>
            </a:r>
            <a:r>
              <a:rPr lang="zh-CN" altLang="en-US" dirty="0"/>
              <a:t>恒定</a:t>
            </a:r>
            <a:r>
              <a:rPr lang="en-US" altLang="zh-CN" dirty="0"/>
              <a:t>TSC( Invariant TSC)</a:t>
            </a:r>
            <a:r>
              <a:rPr lang="zh-CN" altLang="en-US" dirty="0"/>
              <a:t>支持</a:t>
            </a:r>
          </a:p>
        </p:txBody>
      </p:sp>
      <p:pic>
        <p:nvPicPr>
          <p:cNvPr id="6" name="图片 5">
            <a:extLst>
              <a:ext uri="{FF2B5EF4-FFF2-40B4-BE49-F238E27FC236}">
                <a16:creationId xmlns:a16="http://schemas.microsoft.com/office/drawing/2014/main" id="{E724E5C1-187C-4544-A1DC-D8C5F0B9A2CB}"/>
              </a:ext>
            </a:extLst>
          </p:cNvPr>
          <p:cNvPicPr>
            <a:picLocks noChangeAspect="1"/>
          </p:cNvPicPr>
          <p:nvPr/>
        </p:nvPicPr>
        <p:blipFill>
          <a:blip r:embed="rId3"/>
          <a:stretch>
            <a:fillRect/>
          </a:stretch>
        </p:blipFill>
        <p:spPr>
          <a:xfrm>
            <a:off x="323744" y="1115311"/>
            <a:ext cx="8152381" cy="4361905"/>
          </a:xfrm>
          <a:prstGeom prst="rect">
            <a:avLst/>
          </a:prstGeom>
        </p:spPr>
      </p:pic>
      <p:pic>
        <p:nvPicPr>
          <p:cNvPr id="7" name="图片 6">
            <a:extLst>
              <a:ext uri="{FF2B5EF4-FFF2-40B4-BE49-F238E27FC236}">
                <a16:creationId xmlns:a16="http://schemas.microsoft.com/office/drawing/2014/main" id="{34ECDD0D-D8C7-49B0-AB13-F492437A8748}"/>
              </a:ext>
            </a:extLst>
          </p:cNvPr>
          <p:cNvPicPr>
            <a:picLocks noChangeAspect="1"/>
          </p:cNvPicPr>
          <p:nvPr/>
        </p:nvPicPr>
        <p:blipFill>
          <a:blip r:embed="rId4"/>
          <a:stretch>
            <a:fillRect/>
          </a:stretch>
        </p:blipFill>
        <p:spPr>
          <a:xfrm>
            <a:off x="3129775" y="2784137"/>
            <a:ext cx="8085714" cy="3590476"/>
          </a:xfrm>
          <a:prstGeom prst="rect">
            <a:avLst/>
          </a:prstGeom>
        </p:spPr>
      </p:pic>
      <p:pic>
        <p:nvPicPr>
          <p:cNvPr id="13" name="图片 12">
            <a:extLst>
              <a:ext uri="{FF2B5EF4-FFF2-40B4-BE49-F238E27FC236}">
                <a16:creationId xmlns:a16="http://schemas.microsoft.com/office/drawing/2014/main" id="{35F38380-2DBB-4E2F-A7AC-C9DE1F9B3566}"/>
              </a:ext>
            </a:extLst>
          </p:cNvPr>
          <p:cNvPicPr>
            <a:picLocks noChangeAspect="1"/>
          </p:cNvPicPr>
          <p:nvPr/>
        </p:nvPicPr>
        <p:blipFill>
          <a:blip r:embed="rId5"/>
          <a:stretch>
            <a:fillRect/>
          </a:stretch>
        </p:blipFill>
        <p:spPr>
          <a:xfrm>
            <a:off x="6623106" y="917838"/>
            <a:ext cx="5082768" cy="968902"/>
          </a:xfrm>
          <a:prstGeom prst="rect">
            <a:avLst/>
          </a:prstGeom>
        </p:spPr>
      </p:pic>
    </p:spTree>
    <p:extLst>
      <p:ext uri="{BB962C8B-B14F-4D97-AF65-F5344CB8AC3E}">
        <p14:creationId xmlns:p14="http://schemas.microsoft.com/office/powerpoint/2010/main" val="1918272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a:t>
            </a:r>
            <a:r>
              <a:rPr lang="zh-CN" altLang="en-US" dirty="0"/>
              <a:t>编译优化</a:t>
            </a:r>
          </a:p>
        </p:txBody>
      </p:sp>
      <p:sp>
        <p:nvSpPr>
          <p:cNvPr id="25" name="矩形 24">
            <a:extLst>
              <a:ext uri="{FF2B5EF4-FFF2-40B4-BE49-F238E27FC236}">
                <a16:creationId xmlns:a16="http://schemas.microsoft.com/office/drawing/2014/main" id="{EA941923-1058-4BFE-B847-7710C618F7F5}"/>
              </a:ext>
            </a:extLst>
          </p:cNvPr>
          <p:cNvSpPr/>
          <p:nvPr/>
        </p:nvSpPr>
        <p:spPr>
          <a:xfrm>
            <a:off x="535858" y="1144090"/>
            <a:ext cx="232533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observable behavior</a:t>
            </a:r>
            <a:endParaRPr lang="zh-CN" altLang="en-US" dirty="0"/>
          </a:p>
        </p:txBody>
      </p:sp>
      <p:pic>
        <p:nvPicPr>
          <p:cNvPr id="13" name="图片 12">
            <a:extLst>
              <a:ext uri="{FF2B5EF4-FFF2-40B4-BE49-F238E27FC236}">
                <a16:creationId xmlns:a16="http://schemas.microsoft.com/office/drawing/2014/main" id="{AB6D47CF-C152-44B7-899C-85FC29286DAF}"/>
              </a:ext>
            </a:extLst>
          </p:cNvPr>
          <p:cNvPicPr>
            <a:picLocks noChangeAspect="1"/>
          </p:cNvPicPr>
          <p:nvPr/>
        </p:nvPicPr>
        <p:blipFill>
          <a:blip r:embed="rId3"/>
          <a:stretch>
            <a:fillRect/>
          </a:stretch>
        </p:blipFill>
        <p:spPr>
          <a:xfrm>
            <a:off x="457000" y="2059474"/>
            <a:ext cx="9095238" cy="485714"/>
          </a:xfrm>
          <a:prstGeom prst="rect">
            <a:avLst/>
          </a:prstGeom>
        </p:spPr>
      </p:pic>
      <p:sp>
        <p:nvSpPr>
          <p:cNvPr id="27" name="矩形 26">
            <a:extLst>
              <a:ext uri="{FF2B5EF4-FFF2-40B4-BE49-F238E27FC236}">
                <a16:creationId xmlns:a16="http://schemas.microsoft.com/office/drawing/2014/main" id="{FA40DD28-B57F-4D4E-9F51-6F7F610EE19B}"/>
              </a:ext>
            </a:extLst>
          </p:cNvPr>
          <p:cNvSpPr/>
          <p:nvPr/>
        </p:nvSpPr>
        <p:spPr>
          <a:xfrm>
            <a:off x="535858" y="2708404"/>
            <a:ext cx="232533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 side effects</a:t>
            </a:r>
            <a:endParaRPr lang="zh-CN" altLang="en-US" dirty="0"/>
          </a:p>
        </p:txBody>
      </p:sp>
      <p:pic>
        <p:nvPicPr>
          <p:cNvPr id="28" name="图片 27">
            <a:extLst>
              <a:ext uri="{FF2B5EF4-FFF2-40B4-BE49-F238E27FC236}">
                <a16:creationId xmlns:a16="http://schemas.microsoft.com/office/drawing/2014/main" id="{54011B22-1C41-4CEF-A1F0-6C0D0D4D57FF}"/>
              </a:ext>
            </a:extLst>
          </p:cNvPr>
          <p:cNvPicPr>
            <a:picLocks noChangeAspect="1"/>
          </p:cNvPicPr>
          <p:nvPr/>
        </p:nvPicPr>
        <p:blipFill>
          <a:blip r:embed="rId4"/>
          <a:stretch>
            <a:fillRect/>
          </a:stretch>
        </p:blipFill>
        <p:spPr>
          <a:xfrm>
            <a:off x="535858" y="3693541"/>
            <a:ext cx="9609524" cy="600000"/>
          </a:xfrm>
          <a:prstGeom prst="rect">
            <a:avLst/>
          </a:prstGeom>
        </p:spPr>
      </p:pic>
      <p:pic>
        <p:nvPicPr>
          <p:cNvPr id="29" name="图片 28">
            <a:extLst>
              <a:ext uri="{FF2B5EF4-FFF2-40B4-BE49-F238E27FC236}">
                <a16:creationId xmlns:a16="http://schemas.microsoft.com/office/drawing/2014/main" id="{5FEA38FA-6858-4930-A092-BD0897C921EB}"/>
              </a:ext>
            </a:extLst>
          </p:cNvPr>
          <p:cNvPicPr>
            <a:picLocks noChangeAspect="1"/>
          </p:cNvPicPr>
          <p:nvPr/>
        </p:nvPicPr>
        <p:blipFill>
          <a:blip r:embed="rId5"/>
          <a:stretch>
            <a:fillRect/>
          </a:stretch>
        </p:blipFill>
        <p:spPr>
          <a:xfrm>
            <a:off x="995517" y="4608925"/>
            <a:ext cx="1865671" cy="1936971"/>
          </a:xfrm>
          <a:prstGeom prst="rect">
            <a:avLst/>
          </a:prstGeom>
        </p:spPr>
      </p:pic>
      <p:pic>
        <p:nvPicPr>
          <p:cNvPr id="33" name="图片 32">
            <a:extLst>
              <a:ext uri="{FF2B5EF4-FFF2-40B4-BE49-F238E27FC236}">
                <a16:creationId xmlns:a16="http://schemas.microsoft.com/office/drawing/2014/main" id="{7EFDFACF-4DEC-4691-875C-963A2B3B5816}"/>
              </a:ext>
            </a:extLst>
          </p:cNvPr>
          <p:cNvPicPr>
            <a:picLocks noChangeAspect="1"/>
          </p:cNvPicPr>
          <p:nvPr/>
        </p:nvPicPr>
        <p:blipFill>
          <a:blip r:embed="rId6"/>
          <a:stretch>
            <a:fillRect/>
          </a:stretch>
        </p:blipFill>
        <p:spPr>
          <a:xfrm>
            <a:off x="4163051" y="4315505"/>
            <a:ext cx="5104762" cy="2523809"/>
          </a:xfrm>
          <a:prstGeom prst="rect">
            <a:avLst/>
          </a:prstGeom>
        </p:spPr>
      </p:pic>
    </p:spTree>
    <p:extLst>
      <p:ext uri="{BB962C8B-B14F-4D97-AF65-F5344CB8AC3E}">
        <p14:creationId xmlns:p14="http://schemas.microsoft.com/office/powerpoint/2010/main" val="304004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zh-CN" altLang="en-US" dirty="0"/>
              <a:t>编译优化</a:t>
            </a:r>
          </a:p>
        </p:txBody>
      </p:sp>
      <p:sp>
        <p:nvSpPr>
          <p:cNvPr id="25" name="矩形 24">
            <a:extLst>
              <a:ext uri="{FF2B5EF4-FFF2-40B4-BE49-F238E27FC236}">
                <a16:creationId xmlns:a16="http://schemas.microsoft.com/office/drawing/2014/main" id="{EA941923-1058-4BFE-B847-7710C618F7F5}"/>
              </a:ext>
            </a:extLst>
          </p:cNvPr>
          <p:cNvSpPr/>
          <p:nvPr/>
        </p:nvSpPr>
        <p:spPr>
          <a:xfrm>
            <a:off x="535858" y="1144090"/>
            <a:ext cx="232533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observable behavior</a:t>
            </a:r>
            <a:endParaRPr lang="zh-CN" altLang="en-US" dirty="0"/>
          </a:p>
        </p:txBody>
      </p:sp>
      <p:pic>
        <p:nvPicPr>
          <p:cNvPr id="13" name="图片 12">
            <a:extLst>
              <a:ext uri="{FF2B5EF4-FFF2-40B4-BE49-F238E27FC236}">
                <a16:creationId xmlns:a16="http://schemas.microsoft.com/office/drawing/2014/main" id="{AB6D47CF-C152-44B7-899C-85FC29286DAF}"/>
              </a:ext>
            </a:extLst>
          </p:cNvPr>
          <p:cNvPicPr>
            <a:picLocks noChangeAspect="1"/>
          </p:cNvPicPr>
          <p:nvPr/>
        </p:nvPicPr>
        <p:blipFill>
          <a:blip r:embed="rId3"/>
          <a:stretch>
            <a:fillRect/>
          </a:stretch>
        </p:blipFill>
        <p:spPr>
          <a:xfrm>
            <a:off x="457000" y="2059474"/>
            <a:ext cx="9095238" cy="485714"/>
          </a:xfrm>
          <a:prstGeom prst="rect">
            <a:avLst/>
          </a:prstGeom>
        </p:spPr>
      </p:pic>
      <p:sp>
        <p:nvSpPr>
          <p:cNvPr id="27" name="矩形 26">
            <a:extLst>
              <a:ext uri="{FF2B5EF4-FFF2-40B4-BE49-F238E27FC236}">
                <a16:creationId xmlns:a16="http://schemas.microsoft.com/office/drawing/2014/main" id="{FA40DD28-B57F-4D4E-9F51-6F7F610EE19B}"/>
              </a:ext>
            </a:extLst>
          </p:cNvPr>
          <p:cNvSpPr/>
          <p:nvPr/>
        </p:nvSpPr>
        <p:spPr>
          <a:xfrm>
            <a:off x="535858" y="2708404"/>
            <a:ext cx="232533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 side effects</a:t>
            </a:r>
            <a:endParaRPr lang="zh-CN" altLang="en-US" dirty="0"/>
          </a:p>
        </p:txBody>
      </p:sp>
      <p:pic>
        <p:nvPicPr>
          <p:cNvPr id="28" name="图片 27">
            <a:extLst>
              <a:ext uri="{FF2B5EF4-FFF2-40B4-BE49-F238E27FC236}">
                <a16:creationId xmlns:a16="http://schemas.microsoft.com/office/drawing/2014/main" id="{54011B22-1C41-4CEF-A1F0-6C0D0D4D57FF}"/>
              </a:ext>
            </a:extLst>
          </p:cNvPr>
          <p:cNvPicPr>
            <a:picLocks noChangeAspect="1"/>
          </p:cNvPicPr>
          <p:nvPr/>
        </p:nvPicPr>
        <p:blipFill>
          <a:blip r:embed="rId4"/>
          <a:stretch>
            <a:fillRect/>
          </a:stretch>
        </p:blipFill>
        <p:spPr>
          <a:xfrm>
            <a:off x="535858" y="3693541"/>
            <a:ext cx="9609524" cy="600000"/>
          </a:xfrm>
          <a:prstGeom prst="rect">
            <a:avLst/>
          </a:prstGeom>
        </p:spPr>
      </p:pic>
      <p:sp>
        <p:nvSpPr>
          <p:cNvPr id="9" name="矩形 8">
            <a:extLst>
              <a:ext uri="{FF2B5EF4-FFF2-40B4-BE49-F238E27FC236}">
                <a16:creationId xmlns:a16="http://schemas.microsoft.com/office/drawing/2014/main" id="{A8BE976B-B064-445E-B32F-AD0819E3DB4B}"/>
              </a:ext>
            </a:extLst>
          </p:cNvPr>
          <p:cNvSpPr/>
          <p:nvPr/>
        </p:nvSpPr>
        <p:spPr>
          <a:xfrm>
            <a:off x="535858" y="4961742"/>
            <a:ext cx="232533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volatile</a:t>
            </a:r>
            <a:endParaRPr lang="zh-CN" altLang="en-US" dirty="0"/>
          </a:p>
        </p:txBody>
      </p:sp>
      <p:pic>
        <p:nvPicPr>
          <p:cNvPr id="3" name="图片 2">
            <a:extLst>
              <a:ext uri="{FF2B5EF4-FFF2-40B4-BE49-F238E27FC236}">
                <a16:creationId xmlns:a16="http://schemas.microsoft.com/office/drawing/2014/main" id="{950E847D-493F-4B76-95A9-BB501C1EDD13}"/>
              </a:ext>
            </a:extLst>
          </p:cNvPr>
          <p:cNvPicPr>
            <a:picLocks noChangeAspect="1"/>
          </p:cNvPicPr>
          <p:nvPr/>
        </p:nvPicPr>
        <p:blipFill>
          <a:blip r:embed="rId5"/>
          <a:stretch>
            <a:fillRect/>
          </a:stretch>
        </p:blipFill>
        <p:spPr>
          <a:xfrm>
            <a:off x="3933190" y="4680577"/>
            <a:ext cx="2904755" cy="1988144"/>
          </a:xfrm>
          <a:prstGeom prst="rect">
            <a:avLst/>
          </a:prstGeom>
        </p:spPr>
      </p:pic>
      <p:pic>
        <p:nvPicPr>
          <p:cNvPr id="4" name="图片 3">
            <a:extLst>
              <a:ext uri="{FF2B5EF4-FFF2-40B4-BE49-F238E27FC236}">
                <a16:creationId xmlns:a16="http://schemas.microsoft.com/office/drawing/2014/main" id="{57321CDE-E5AA-4B60-8F5C-00961FDE7ACD}"/>
              </a:ext>
            </a:extLst>
          </p:cNvPr>
          <p:cNvPicPr>
            <a:picLocks noChangeAspect="1"/>
          </p:cNvPicPr>
          <p:nvPr/>
        </p:nvPicPr>
        <p:blipFill>
          <a:blip r:embed="rId6"/>
          <a:stretch>
            <a:fillRect/>
          </a:stretch>
        </p:blipFill>
        <p:spPr>
          <a:xfrm>
            <a:off x="7369454" y="4771159"/>
            <a:ext cx="3509942" cy="1747628"/>
          </a:xfrm>
          <a:prstGeom prst="rect">
            <a:avLst/>
          </a:prstGeom>
        </p:spPr>
      </p:pic>
    </p:spTree>
    <p:extLst>
      <p:ext uri="{BB962C8B-B14F-4D97-AF65-F5344CB8AC3E}">
        <p14:creationId xmlns:p14="http://schemas.microsoft.com/office/powerpoint/2010/main" val="550560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基础版</a:t>
            </a:r>
            <a:r>
              <a:rPr lang="en-US" altLang="zh-CN" dirty="0"/>
              <a:t>RDTSC</a:t>
            </a:r>
            <a:r>
              <a:rPr lang="zh-CN" altLang="en-US" dirty="0"/>
              <a:t>扩展汇编</a:t>
            </a:r>
          </a:p>
        </p:txBody>
      </p:sp>
      <p:pic>
        <p:nvPicPr>
          <p:cNvPr id="12" name="图片 11">
            <a:extLst>
              <a:ext uri="{FF2B5EF4-FFF2-40B4-BE49-F238E27FC236}">
                <a16:creationId xmlns:a16="http://schemas.microsoft.com/office/drawing/2014/main" id="{924000D2-D2F6-4BBB-AF15-895E210D1E26}"/>
              </a:ext>
            </a:extLst>
          </p:cNvPr>
          <p:cNvPicPr>
            <a:picLocks noChangeAspect="1"/>
          </p:cNvPicPr>
          <p:nvPr/>
        </p:nvPicPr>
        <p:blipFill>
          <a:blip r:embed="rId3"/>
          <a:stretch>
            <a:fillRect/>
          </a:stretch>
        </p:blipFill>
        <p:spPr>
          <a:xfrm>
            <a:off x="498231" y="2116579"/>
            <a:ext cx="5009524" cy="2438095"/>
          </a:xfrm>
          <a:prstGeom prst="rect">
            <a:avLst/>
          </a:prstGeom>
        </p:spPr>
      </p:pic>
    </p:spTree>
    <p:extLst>
      <p:ext uri="{BB962C8B-B14F-4D97-AF65-F5344CB8AC3E}">
        <p14:creationId xmlns:p14="http://schemas.microsoft.com/office/powerpoint/2010/main" val="3810718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en-US" altLang="zh-CN" dirty="0" err="1"/>
              <a:t>OoOE</a:t>
            </a:r>
            <a:r>
              <a:rPr lang="en-US" altLang="zh-CN" dirty="0"/>
              <a:t> </a:t>
            </a:r>
            <a:r>
              <a:rPr lang="zh-CN" altLang="en-US" dirty="0"/>
              <a:t>乱序执行</a:t>
            </a:r>
          </a:p>
        </p:txBody>
      </p:sp>
      <p:sp>
        <p:nvSpPr>
          <p:cNvPr id="7" name="矩形 6">
            <a:extLst>
              <a:ext uri="{FF2B5EF4-FFF2-40B4-BE49-F238E27FC236}">
                <a16:creationId xmlns:a16="http://schemas.microsoft.com/office/drawing/2014/main" id="{02C7C5C0-C80B-44D5-B62A-48F1E5AF622D}"/>
              </a:ext>
            </a:extLst>
          </p:cNvPr>
          <p:cNvSpPr/>
          <p:nvPr/>
        </p:nvSpPr>
        <p:spPr>
          <a:xfrm>
            <a:off x="498231" y="1224339"/>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指令流水线</a:t>
            </a:r>
            <a:r>
              <a:rPr lang="en-US" altLang="zh-CN" dirty="0"/>
              <a:t>(pipeline)</a:t>
            </a:r>
            <a:endParaRPr lang="zh-CN" altLang="en-US" dirty="0"/>
          </a:p>
        </p:txBody>
      </p:sp>
      <p:pic>
        <p:nvPicPr>
          <p:cNvPr id="4" name="图片 3">
            <a:extLst>
              <a:ext uri="{FF2B5EF4-FFF2-40B4-BE49-F238E27FC236}">
                <a16:creationId xmlns:a16="http://schemas.microsoft.com/office/drawing/2014/main" id="{8F80F0F2-E36D-4082-8BC4-E4DE4260DA1D}"/>
              </a:ext>
            </a:extLst>
          </p:cNvPr>
          <p:cNvPicPr>
            <a:picLocks noChangeAspect="1"/>
          </p:cNvPicPr>
          <p:nvPr/>
        </p:nvPicPr>
        <p:blipFill>
          <a:blip r:embed="rId3"/>
          <a:stretch>
            <a:fillRect/>
          </a:stretch>
        </p:blipFill>
        <p:spPr>
          <a:xfrm>
            <a:off x="5823283" y="943285"/>
            <a:ext cx="4548119" cy="2104715"/>
          </a:xfrm>
          <a:prstGeom prst="rect">
            <a:avLst/>
          </a:prstGeom>
        </p:spPr>
      </p:pic>
      <p:sp>
        <p:nvSpPr>
          <p:cNvPr id="15" name="矩形 14">
            <a:extLst>
              <a:ext uri="{FF2B5EF4-FFF2-40B4-BE49-F238E27FC236}">
                <a16:creationId xmlns:a16="http://schemas.microsoft.com/office/drawing/2014/main" id="{BD96C047-6794-495E-9823-86DDAF8D25A6}"/>
              </a:ext>
            </a:extLst>
          </p:cNvPr>
          <p:cNvSpPr/>
          <p:nvPr/>
        </p:nvSpPr>
        <p:spPr>
          <a:xfrm>
            <a:off x="2093689" y="2530136"/>
            <a:ext cx="2950822" cy="571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取指</a:t>
            </a:r>
          </a:p>
        </p:txBody>
      </p:sp>
      <p:sp>
        <p:nvSpPr>
          <p:cNvPr id="16" name="矩形 15">
            <a:extLst>
              <a:ext uri="{FF2B5EF4-FFF2-40B4-BE49-F238E27FC236}">
                <a16:creationId xmlns:a16="http://schemas.microsoft.com/office/drawing/2014/main" id="{040D4E56-C7F5-47F6-B71F-89553D47CA85}"/>
              </a:ext>
            </a:extLst>
          </p:cNvPr>
          <p:cNvSpPr/>
          <p:nvPr/>
        </p:nvSpPr>
        <p:spPr>
          <a:xfrm>
            <a:off x="2093689" y="3273511"/>
            <a:ext cx="2950822" cy="571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译码和读寄存器</a:t>
            </a:r>
          </a:p>
        </p:txBody>
      </p:sp>
      <p:sp>
        <p:nvSpPr>
          <p:cNvPr id="17" name="矩形 16">
            <a:extLst>
              <a:ext uri="{FF2B5EF4-FFF2-40B4-BE49-F238E27FC236}">
                <a16:creationId xmlns:a16="http://schemas.microsoft.com/office/drawing/2014/main" id="{1B35ED93-6856-4185-B524-0202AF7384A8}"/>
              </a:ext>
            </a:extLst>
          </p:cNvPr>
          <p:cNvSpPr/>
          <p:nvPr/>
        </p:nvSpPr>
        <p:spPr>
          <a:xfrm>
            <a:off x="2093689" y="4016886"/>
            <a:ext cx="2950822" cy="571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运行</a:t>
            </a:r>
          </a:p>
        </p:txBody>
      </p:sp>
      <p:sp>
        <p:nvSpPr>
          <p:cNvPr id="18" name="矩形 17">
            <a:extLst>
              <a:ext uri="{FF2B5EF4-FFF2-40B4-BE49-F238E27FC236}">
                <a16:creationId xmlns:a16="http://schemas.microsoft.com/office/drawing/2014/main" id="{10A4E741-8065-4B4E-8D27-0C3D3C394E12}"/>
              </a:ext>
            </a:extLst>
          </p:cNvPr>
          <p:cNvSpPr/>
          <p:nvPr/>
        </p:nvSpPr>
        <p:spPr>
          <a:xfrm>
            <a:off x="2093689" y="4737907"/>
            <a:ext cx="2950822" cy="571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存储器访问</a:t>
            </a:r>
          </a:p>
        </p:txBody>
      </p:sp>
      <p:sp>
        <p:nvSpPr>
          <p:cNvPr id="19" name="矩形 18">
            <a:extLst>
              <a:ext uri="{FF2B5EF4-FFF2-40B4-BE49-F238E27FC236}">
                <a16:creationId xmlns:a16="http://schemas.microsoft.com/office/drawing/2014/main" id="{2CACDC16-4457-4F7F-BECA-7D78F7E1CA8F}"/>
              </a:ext>
            </a:extLst>
          </p:cNvPr>
          <p:cNvSpPr/>
          <p:nvPr/>
        </p:nvSpPr>
        <p:spPr>
          <a:xfrm>
            <a:off x="2093689" y="5458928"/>
            <a:ext cx="2950822" cy="5712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写会</a:t>
            </a:r>
          </a:p>
        </p:txBody>
      </p:sp>
    </p:spTree>
    <p:extLst>
      <p:ext uri="{BB962C8B-B14F-4D97-AF65-F5344CB8AC3E}">
        <p14:creationId xmlns:p14="http://schemas.microsoft.com/office/powerpoint/2010/main" val="3565614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en-US" altLang="zh-CN" dirty="0" err="1"/>
              <a:t>OoOE</a:t>
            </a:r>
            <a:r>
              <a:rPr lang="en-US" altLang="zh-CN" dirty="0"/>
              <a:t> </a:t>
            </a:r>
            <a:r>
              <a:rPr lang="zh-CN" altLang="en-US" dirty="0"/>
              <a:t>乱序执行</a:t>
            </a:r>
          </a:p>
        </p:txBody>
      </p:sp>
      <p:sp>
        <p:nvSpPr>
          <p:cNvPr id="7" name="矩形 6">
            <a:extLst>
              <a:ext uri="{FF2B5EF4-FFF2-40B4-BE49-F238E27FC236}">
                <a16:creationId xmlns:a16="http://schemas.microsoft.com/office/drawing/2014/main" id="{02C7C5C0-C80B-44D5-B62A-48F1E5AF622D}"/>
              </a:ext>
            </a:extLst>
          </p:cNvPr>
          <p:cNvSpPr/>
          <p:nvPr/>
        </p:nvSpPr>
        <p:spPr>
          <a:xfrm>
            <a:off x="498231" y="1089889"/>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指令流水线</a:t>
            </a:r>
            <a:r>
              <a:rPr lang="en-US" altLang="zh-CN" dirty="0"/>
              <a:t>(pipeline)</a:t>
            </a:r>
            <a:endParaRPr lang="zh-CN" altLang="en-US" dirty="0"/>
          </a:p>
        </p:txBody>
      </p:sp>
      <p:sp>
        <p:nvSpPr>
          <p:cNvPr id="15" name="矩形 14">
            <a:extLst>
              <a:ext uri="{FF2B5EF4-FFF2-40B4-BE49-F238E27FC236}">
                <a16:creationId xmlns:a16="http://schemas.microsoft.com/office/drawing/2014/main" id="{BD96C047-6794-495E-9823-86DDAF8D25A6}"/>
              </a:ext>
            </a:extLst>
          </p:cNvPr>
          <p:cNvSpPr/>
          <p:nvPr/>
        </p:nvSpPr>
        <p:spPr>
          <a:xfrm>
            <a:off x="1066995" y="2322175"/>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取指</a:t>
            </a:r>
          </a:p>
        </p:txBody>
      </p:sp>
      <p:sp>
        <p:nvSpPr>
          <p:cNvPr id="16" name="矩形 15">
            <a:extLst>
              <a:ext uri="{FF2B5EF4-FFF2-40B4-BE49-F238E27FC236}">
                <a16:creationId xmlns:a16="http://schemas.microsoft.com/office/drawing/2014/main" id="{040D4E56-C7F5-47F6-B71F-89553D47CA85}"/>
              </a:ext>
            </a:extLst>
          </p:cNvPr>
          <p:cNvSpPr/>
          <p:nvPr/>
        </p:nvSpPr>
        <p:spPr>
          <a:xfrm>
            <a:off x="1066995" y="2873496"/>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译码和读寄存器</a:t>
            </a:r>
          </a:p>
        </p:txBody>
      </p:sp>
      <p:sp>
        <p:nvSpPr>
          <p:cNvPr id="17" name="矩形 16">
            <a:extLst>
              <a:ext uri="{FF2B5EF4-FFF2-40B4-BE49-F238E27FC236}">
                <a16:creationId xmlns:a16="http://schemas.microsoft.com/office/drawing/2014/main" id="{1B35ED93-6856-4185-B524-0202AF7384A8}"/>
              </a:ext>
            </a:extLst>
          </p:cNvPr>
          <p:cNvSpPr/>
          <p:nvPr/>
        </p:nvSpPr>
        <p:spPr>
          <a:xfrm>
            <a:off x="1066995" y="3441292"/>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运行</a:t>
            </a:r>
          </a:p>
        </p:txBody>
      </p:sp>
      <p:sp>
        <p:nvSpPr>
          <p:cNvPr id="18" name="矩形 17">
            <a:extLst>
              <a:ext uri="{FF2B5EF4-FFF2-40B4-BE49-F238E27FC236}">
                <a16:creationId xmlns:a16="http://schemas.microsoft.com/office/drawing/2014/main" id="{10A4E741-8065-4B4E-8D27-0C3D3C394E12}"/>
              </a:ext>
            </a:extLst>
          </p:cNvPr>
          <p:cNvSpPr/>
          <p:nvPr/>
        </p:nvSpPr>
        <p:spPr>
          <a:xfrm>
            <a:off x="1066995" y="4007491"/>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存储器访问</a:t>
            </a:r>
          </a:p>
        </p:txBody>
      </p:sp>
      <p:sp>
        <p:nvSpPr>
          <p:cNvPr id="19" name="矩形 18">
            <a:extLst>
              <a:ext uri="{FF2B5EF4-FFF2-40B4-BE49-F238E27FC236}">
                <a16:creationId xmlns:a16="http://schemas.microsoft.com/office/drawing/2014/main" id="{2CACDC16-4457-4F7F-BECA-7D78F7E1CA8F}"/>
              </a:ext>
            </a:extLst>
          </p:cNvPr>
          <p:cNvSpPr/>
          <p:nvPr/>
        </p:nvSpPr>
        <p:spPr>
          <a:xfrm>
            <a:off x="1066995" y="4573690"/>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写回</a:t>
            </a:r>
          </a:p>
        </p:txBody>
      </p:sp>
      <p:sp>
        <p:nvSpPr>
          <p:cNvPr id="26" name="矩形 25">
            <a:extLst>
              <a:ext uri="{FF2B5EF4-FFF2-40B4-BE49-F238E27FC236}">
                <a16:creationId xmlns:a16="http://schemas.microsoft.com/office/drawing/2014/main" id="{51AC29E4-A16F-4B52-B0C1-5A6364E8B58B}"/>
              </a:ext>
            </a:extLst>
          </p:cNvPr>
          <p:cNvSpPr/>
          <p:nvPr/>
        </p:nvSpPr>
        <p:spPr>
          <a:xfrm>
            <a:off x="4211248" y="2877679"/>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取指</a:t>
            </a:r>
          </a:p>
        </p:txBody>
      </p:sp>
      <p:sp>
        <p:nvSpPr>
          <p:cNvPr id="27" name="矩形 26">
            <a:extLst>
              <a:ext uri="{FF2B5EF4-FFF2-40B4-BE49-F238E27FC236}">
                <a16:creationId xmlns:a16="http://schemas.microsoft.com/office/drawing/2014/main" id="{D9944356-1354-487A-8220-5855BD551A32}"/>
              </a:ext>
            </a:extLst>
          </p:cNvPr>
          <p:cNvSpPr/>
          <p:nvPr/>
        </p:nvSpPr>
        <p:spPr>
          <a:xfrm>
            <a:off x="4211248" y="3429000"/>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译码和读寄存器</a:t>
            </a:r>
          </a:p>
        </p:txBody>
      </p:sp>
      <p:sp>
        <p:nvSpPr>
          <p:cNvPr id="28" name="矩形 27">
            <a:extLst>
              <a:ext uri="{FF2B5EF4-FFF2-40B4-BE49-F238E27FC236}">
                <a16:creationId xmlns:a16="http://schemas.microsoft.com/office/drawing/2014/main" id="{3795386A-1792-4A55-86EF-04B300B7DDD8}"/>
              </a:ext>
            </a:extLst>
          </p:cNvPr>
          <p:cNvSpPr/>
          <p:nvPr/>
        </p:nvSpPr>
        <p:spPr>
          <a:xfrm>
            <a:off x="4211248" y="3996796"/>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运行</a:t>
            </a:r>
          </a:p>
        </p:txBody>
      </p:sp>
      <p:sp>
        <p:nvSpPr>
          <p:cNvPr id="29" name="矩形 28">
            <a:extLst>
              <a:ext uri="{FF2B5EF4-FFF2-40B4-BE49-F238E27FC236}">
                <a16:creationId xmlns:a16="http://schemas.microsoft.com/office/drawing/2014/main" id="{F89D2C92-67BF-467A-98D5-72D781CD472A}"/>
              </a:ext>
            </a:extLst>
          </p:cNvPr>
          <p:cNvSpPr/>
          <p:nvPr/>
        </p:nvSpPr>
        <p:spPr>
          <a:xfrm>
            <a:off x="4211248" y="4562995"/>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存储器访问</a:t>
            </a:r>
          </a:p>
        </p:txBody>
      </p:sp>
      <p:sp>
        <p:nvSpPr>
          <p:cNvPr id="30" name="矩形 29">
            <a:extLst>
              <a:ext uri="{FF2B5EF4-FFF2-40B4-BE49-F238E27FC236}">
                <a16:creationId xmlns:a16="http://schemas.microsoft.com/office/drawing/2014/main" id="{40320860-66F1-4B3C-81E1-BDD06FEA57EF}"/>
              </a:ext>
            </a:extLst>
          </p:cNvPr>
          <p:cNvSpPr/>
          <p:nvPr/>
        </p:nvSpPr>
        <p:spPr>
          <a:xfrm>
            <a:off x="4211248" y="5129194"/>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写回</a:t>
            </a:r>
          </a:p>
        </p:txBody>
      </p:sp>
    </p:spTree>
    <p:extLst>
      <p:ext uri="{BB962C8B-B14F-4D97-AF65-F5344CB8AC3E}">
        <p14:creationId xmlns:p14="http://schemas.microsoft.com/office/powerpoint/2010/main" val="2135005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en-US" altLang="zh-CN" dirty="0" err="1"/>
              <a:t>OoOE</a:t>
            </a:r>
            <a:r>
              <a:rPr lang="en-US" altLang="zh-CN" dirty="0"/>
              <a:t> </a:t>
            </a:r>
            <a:r>
              <a:rPr lang="zh-CN" altLang="en-US" dirty="0"/>
              <a:t>乱序执行</a:t>
            </a:r>
          </a:p>
        </p:txBody>
      </p:sp>
      <p:sp>
        <p:nvSpPr>
          <p:cNvPr id="7" name="矩形 6">
            <a:extLst>
              <a:ext uri="{FF2B5EF4-FFF2-40B4-BE49-F238E27FC236}">
                <a16:creationId xmlns:a16="http://schemas.microsoft.com/office/drawing/2014/main" id="{02C7C5C0-C80B-44D5-B62A-48F1E5AF622D}"/>
              </a:ext>
            </a:extLst>
          </p:cNvPr>
          <p:cNvSpPr/>
          <p:nvPr/>
        </p:nvSpPr>
        <p:spPr>
          <a:xfrm>
            <a:off x="498231" y="1089889"/>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指令流水线</a:t>
            </a:r>
            <a:r>
              <a:rPr lang="en-US" altLang="zh-CN" dirty="0"/>
              <a:t>(pipeline)</a:t>
            </a:r>
            <a:endParaRPr lang="zh-CN" altLang="en-US" dirty="0"/>
          </a:p>
        </p:txBody>
      </p:sp>
      <p:sp>
        <p:nvSpPr>
          <p:cNvPr id="15" name="矩形 14">
            <a:extLst>
              <a:ext uri="{FF2B5EF4-FFF2-40B4-BE49-F238E27FC236}">
                <a16:creationId xmlns:a16="http://schemas.microsoft.com/office/drawing/2014/main" id="{BD96C047-6794-495E-9823-86DDAF8D25A6}"/>
              </a:ext>
            </a:extLst>
          </p:cNvPr>
          <p:cNvSpPr/>
          <p:nvPr/>
        </p:nvSpPr>
        <p:spPr>
          <a:xfrm>
            <a:off x="1066995" y="2322175"/>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取指</a:t>
            </a:r>
          </a:p>
        </p:txBody>
      </p:sp>
      <p:sp>
        <p:nvSpPr>
          <p:cNvPr id="16" name="矩形 15">
            <a:extLst>
              <a:ext uri="{FF2B5EF4-FFF2-40B4-BE49-F238E27FC236}">
                <a16:creationId xmlns:a16="http://schemas.microsoft.com/office/drawing/2014/main" id="{040D4E56-C7F5-47F6-B71F-89553D47CA85}"/>
              </a:ext>
            </a:extLst>
          </p:cNvPr>
          <p:cNvSpPr/>
          <p:nvPr/>
        </p:nvSpPr>
        <p:spPr>
          <a:xfrm>
            <a:off x="1066995" y="2873496"/>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译码和读寄存器</a:t>
            </a:r>
          </a:p>
        </p:txBody>
      </p:sp>
      <p:sp>
        <p:nvSpPr>
          <p:cNvPr id="17" name="矩形 16">
            <a:extLst>
              <a:ext uri="{FF2B5EF4-FFF2-40B4-BE49-F238E27FC236}">
                <a16:creationId xmlns:a16="http://schemas.microsoft.com/office/drawing/2014/main" id="{1B35ED93-6856-4185-B524-0202AF7384A8}"/>
              </a:ext>
            </a:extLst>
          </p:cNvPr>
          <p:cNvSpPr/>
          <p:nvPr/>
        </p:nvSpPr>
        <p:spPr>
          <a:xfrm>
            <a:off x="1066995" y="3441292"/>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运行</a:t>
            </a:r>
          </a:p>
        </p:txBody>
      </p:sp>
      <p:sp>
        <p:nvSpPr>
          <p:cNvPr id="18" name="矩形 17">
            <a:extLst>
              <a:ext uri="{FF2B5EF4-FFF2-40B4-BE49-F238E27FC236}">
                <a16:creationId xmlns:a16="http://schemas.microsoft.com/office/drawing/2014/main" id="{10A4E741-8065-4B4E-8D27-0C3D3C394E12}"/>
              </a:ext>
            </a:extLst>
          </p:cNvPr>
          <p:cNvSpPr/>
          <p:nvPr/>
        </p:nvSpPr>
        <p:spPr>
          <a:xfrm>
            <a:off x="1066995" y="4007491"/>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存储器访问</a:t>
            </a:r>
          </a:p>
        </p:txBody>
      </p:sp>
      <p:sp>
        <p:nvSpPr>
          <p:cNvPr id="19" name="矩形 18">
            <a:extLst>
              <a:ext uri="{FF2B5EF4-FFF2-40B4-BE49-F238E27FC236}">
                <a16:creationId xmlns:a16="http://schemas.microsoft.com/office/drawing/2014/main" id="{2CACDC16-4457-4F7F-BECA-7D78F7E1CA8F}"/>
              </a:ext>
            </a:extLst>
          </p:cNvPr>
          <p:cNvSpPr/>
          <p:nvPr/>
        </p:nvSpPr>
        <p:spPr>
          <a:xfrm>
            <a:off x="1066995" y="4573690"/>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写回</a:t>
            </a:r>
          </a:p>
        </p:txBody>
      </p:sp>
      <p:sp>
        <p:nvSpPr>
          <p:cNvPr id="26" name="矩形 25">
            <a:extLst>
              <a:ext uri="{FF2B5EF4-FFF2-40B4-BE49-F238E27FC236}">
                <a16:creationId xmlns:a16="http://schemas.microsoft.com/office/drawing/2014/main" id="{51AC29E4-A16F-4B52-B0C1-5A6364E8B58B}"/>
              </a:ext>
            </a:extLst>
          </p:cNvPr>
          <p:cNvSpPr/>
          <p:nvPr/>
        </p:nvSpPr>
        <p:spPr>
          <a:xfrm>
            <a:off x="4211248" y="2877679"/>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取指</a:t>
            </a:r>
          </a:p>
        </p:txBody>
      </p:sp>
      <p:sp>
        <p:nvSpPr>
          <p:cNvPr id="27" name="矩形 26">
            <a:extLst>
              <a:ext uri="{FF2B5EF4-FFF2-40B4-BE49-F238E27FC236}">
                <a16:creationId xmlns:a16="http://schemas.microsoft.com/office/drawing/2014/main" id="{D9944356-1354-487A-8220-5855BD551A32}"/>
              </a:ext>
            </a:extLst>
          </p:cNvPr>
          <p:cNvSpPr/>
          <p:nvPr/>
        </p:nvSpPr>
        <p:spPr>
          <a:xfrm>
            <a:off x="4211248" y="3429000"/>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译码和读寄存器</a:t>
            </a:r>
          </a:p>
        </p:txBody>
      </p:sp>
      <p:sp>
        <p:nvSpPr>
          <p:cNvPr id="28" name="矩形 27">
            <a:extLst>
              <a:ext uri="{FF2B5EF4-FFF2-40B4-BE49-F238E27FC236}">
                <a16:creationId xmlns:a16="http://schemas.microsoft.com/office/drawing/2014/main" id="{3795386A-1792-4A55-86EF-04B300B7DDD8}"/>
              </a:ext>
            </a:extLst>
          </p:cNvPr>
          <p:cNvSpPr/>
          <p:nvPr/>
        </p:nvSpPr>
        <p:spPr>
          <a:xfrm>
            <a:off x="4211248" y="3996796"/>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运行</a:t>
            </a:r>
          </a:p>
        </p:txBody>
      </p:sp>
      <p:sp>
        <p:nvSpPr>
          <p:cNvPr id="29" name="矩形 28">
            <a:extLst>
              <a:ext uri="{FF2B5EF4-FFF2-40B4-BE49-F238E27FC236}">
                <a16:creationId xmlns:a16="http://schemas.microsoft.com/office/drawing/2014/main" id="{F89D2C92-67BF-467A-98D5-72D781CD472A}"/>
              </a:ext>
            </a:extLst>
          </p:cNvPr>
          <p:cNvSpPr/>
          <p:nvPr/>
        </p:nvSpPr>
        <p:spPr>
          <a:xfrm>
            <a:off x="4211248" y="4562995"/>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存储器访问</a:t>
            </a:r>
          </a:p>
        </p:txBody>
      </p:sp>
      <p:sp>
        <p:nvSpPr>
          <p:cNvPr id="30" name="矩形 29">
            <a:extLst>
              <a:ext uri="{FF2B5EF4-FFF2-40B4-BE49-F238E27FC236}">
                <a16:creationId xmlns:a16="http://schemas.microsoft.com/office/drawing/2014/main" id="{40320860-66F1-4B3C-81E1-BDD06FEA57EF}"/>
              </a:ext>
            </a:extLst>
          </p:cNvPr>
          <p:cNvSpPr/>
          <p:nvPr/>
        </p:nvSpPr>
        <p:spPr>
          <a:xfrm>
            <a:off x="4211248" y="5129194"/>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写回</a:t>
            </a:r>
          </a:p>
        </p:txBody>
      </p:sp>
      <p:sp>
        <p:nvSpPr>
          <p:cNvPr id="14" name="矩形 13">
            <a:extLst>
              <a:ext uri="{FF2B5EF4-FFF2-40B4-BE49-F238E27FC236}">
                <a16:creationId xmlns:a16="http://schemas.microsoft.com/office/drawing/2014/main" id="{13F819B1-0EC3-4915-AD50-BA4CD95AA0C3}"/>
              </a:ext>
            </a:extLst>
          </p:cNvPr>
          <p:cNvSpPr/>
          <p:nvPr/>
        </p:nvSpPr>
        <p:spPr>
          <a:xfrm>
            <a:off x="7355501" y="3441292"/>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取指</a:t>
            </a:r>
          </a:p>
        </p:txBody>
      </p:sp>
      <p:sp>
        <p:nvSpPr>
          <p:cNvPr id="20" name="矩形 19">
            <a:extLst>
              <a:ext uri="{FF2B5EF4-FFF2-40B4-BE49-F238E27FC236}">
                <a16:creationId xmlns:a16="http://schemas.microsoft.com/office/drawing/2014/main" id="{ED0C5F4F-FA5A-4D76-B961-CFD9B16A5175}"/>
              </a:ext>
            </a:extLst>
          </p:cNvPr>
          <p:cNvSpPr/>
          <p:nvPr/>
        </p:nvSpPr>
        <p:spPr>
          <a:xfrm>
            <a:off x="7355501" y="3992613"/>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译码和读寄存器</a:t>
            </a:r>
          </a:p>
        </p:txBody>
      </p:sp>
      <p:sp>
        <p:nvSpPr>
          <p:cNvPr id="21" name="矩形 20">
            <a:extLst>
              <a:ext uri="{FF2B5EF4-FFF2-40B4-BE49-F238E27FC236}">
                <a16:creationId xmlns:a16="http://schemas.microsoft.com/office/drawing/2014/main" id="{896B7BE9-B04B-4190-A8DA-73A4E9C0D50A}"/>
              </a:ext>
            </a:extLst>
          </p:cNvPr>
          <p:cNvSpPr/>
          <p:nvPr/>
        </p:nvSpPr>
        <p:spPr>
          <a:xfrm>
            <a:off x="7355501" y="4560409"/>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运行</a:t>
            </a:r>
          </a:p>
        </p:txBody>
      </p:sp>
      <p:sp>
        <p:nvSpPr>
          <p:cNvPr id="22" name="矩形 21">
            <a:extLst>
              <a:ext uri="{FF2B5EF4-FFF2-40B4-BE49-F238E27FC236}">
                <a16:creationId xmlns:a16="http://schemas.microsoft.com/office/drawing/2014/main" id="{D6379F52-669A-4C4B-9293-5A91E2CAC80F}"/>
              </a:ext>
            </a:extLst>
          </p:cNvPr>
          <p:cNvSpPr/>
          <p:nvPr/>
        </p:nvSpPr>
        <p:spPr>
          <a:xfrm>
            <a:off x="7355501" y="5126608"/>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存储器访问</a:t>
            </a:r>
          </a:p>
        </p:txBody>
      </p:sp>
      <p:sp>
        <p:nvSpPr>
          <p:cNvPr id="23" name="矩形 22">
            <a:extLst>
              <a:ext uri="{FF2B5EF4-FFF2-40B4-BE49-F238E27FC236}">
                <a16:creationId xmlns:a16="http://schemas.microsoft.com/office/drawing/2014/main" id="{B25FB456-BB00-410F-BCD8-F54C1CCBE58A}"/>
              </a:ext>
            </a:extLst>
          </p:cNvPr>
          <p:cNvSpPr/>
          <p:nvPr/>
        </p:nvSpPr>
        <p:spPr>
          <a:xfrm>
            <a:off x="7355501" y="5692807"/>
            <a:ext cx="2950822" cy="39584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写回</a:t>
            </a:r>
          </a:p>
        </p:txBody>
      </p:sp>
    </p:spTree>
    <p:extLst>
      <p:ext uri="{BB962C8B-B14F-4D97-AF65-F5344CB8AC3E}">
        <p14:creationId xmlns:p14="http://schemas.microsoft.com/office/powerpoint/2010/main" val="819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en-US" altLang="zh-CN" dirty="0" err="1"/>
              <a:t>OoOE</a:t>
            </a:r>
            <a:r>
              <a:rPr lang="en-US" altLang="zh-CN" dirty="0"/>
              <a:t> </a:t>
            </a:r>
            <a:r>
              <a:rPr lang="zh-CN" altLang="en-US" dirty="0"/>
              <a:t>乱序执行</a:t>
            </a:r>
          </a:p>
        </p:txBody>
      </p:sp>
      <p:sp>
        <p:nvSpPr>
          <p:cNvPr id="7" name="矩形 6">
            <a:extLst>
              <a:ext uri="{FF2B5EF4-FFF2-40B4-BE49-F238E27FC236}">
                <a16:creationId xmlns:a16="http://schemas.microsoft.com/office/drawing/2014/main" id="{02C7C5C0-C80B-44D5-B62A-48F1E5AF622D}"/>
              </a:ext>
            </a:extLst>
          </p:cNvPr>
          <p:cNvSpPr/>
          <p:nvPr/>
        </p:nvSpPr>
        <p:spPr>
          <a:xfrm>
            <a:off x="498231" y="1010495"/>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指令流水线</a:t>
            </a:r>
            <a:r>
              <a:rPr lang="en-US" altLang="zh-CN" dirty="0"/>
              <a:t>(pipeline)</a:t>
            </a:r>
            <a:endParaRPr lang="zh-CN" altLang="en-US" dirty="0"/>
          </a:p>
        </p:txBody>
      </p:sp>
      <p:sp>
        <p:nvSpPr>
          <p:cNvPr id="25" name="矩形 24">
            <a:extLst>
              <a:ext uri="{FF2B5EF4-FFF2-40B4-BE49-F238E27FC236}">
                <a16:creationId xmlns:a16="http://schemas.microsoft.com/office/drawing/2014/main" id="{6A545B4A-EACB-489B-A959-B154919D37AC}"/>
              </a:ext>
            </a:extLst>
          </p:cNvPr>
          <p:cNvSpPr/>
          <p:nvPr/>
        </p:nvSpPr>
        <p:spPr>
          <a:xfrm>
            <a:off x="4685220" y="3380559"/>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读内存太慢导致空槽 气泡</a:t>
            </a:r>
          </a:p>
        </p:txBody>
      </p:sp>
      <p:sp>
        <p:nvSpPr>
          <p:cNvPr id="31" name="矩形 30">
            <a:extLst>
              <a:ext uri="{FF2B5EF4-FFF2-40B4-BE49-F238E27FC236}">
                <a16:creationId xmlns:a16="http://schemas.microsoft.com/office/drawing/2014/main" id="{DE5FC6E6-95E7-409A-888A-A62981BE8ABC}"/>
              </a:ext>
            </a:extLst>
          </p:cNvPr>
          <p:cNvSpPr/>
          <p:nvPr/>
        </p:nvSpPr>
        <p:spPr>
          <a:xfrm>
            <a:off x="4685220" y="2261307"/>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数据依赖导致空槽 气泡</a:t>
            </a:r>
          </a:p>
        </p:txBody>
      </p:sp>
      <p:sp>
        <p:nvSpPr>
          <p:cNvPr id="33" name="矩形 32">
            <a:extLst>
              <a:ext uri="{FF2B5EF4-FFF2-40B4-BE49-F238E27FC236}">
                <a16:creationId xmlns:a16="http://schemas.microsoft.com/office/drawing/2014/main" id="{EF5CAC64-4D93-4CBB-BD7C-D4A57DA3741D}"/>
              </a:ext>
            </a:extLst>
          </p:cNvPr>
          <p:cNvSpPr/>
          <p:nvPr/>
        </p:nvSpPr>
        <p:spPr>
          <a:xfrm>
            <a:off x="4685220" y="4499811"/>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严格保证程序顺序自然产生的空槽 气泡</a:t>
            </a:r>
          </a:p>
        </p:txBody>
      </p:sp>
      <p:sp>
        <p:nvSpPr>
          <p:cNvPr id="34" name="矩形 33">
            <a:extLst>
              <a:ext uri="{FF2B5EF4-FFF2-40B4-BE49-F238E27FC236}">
                <a16:creationId xmlns:a16="http://schemas.microsoft.com/office/drawing/2014/main" id="{A7FA8A8D-1C7E-485B-8E59-C256EAAD2DFB}"/>
              </a:ext>
            </a:extLst>
          </p:cNvPr>
          <p:cNvSpPr/>
          <p:nvPr/>
        </p:nvSpPr>
        <p:spPr>
          <a:xfrm>
            <a:off x="4685220" y="5619063"/>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分支停顿</a:t>
            </a:r>
          </a:p>
        </p:txBody>
      </p:sp>
      <p:sp>
        <p:nvSpPr>
          <p:cNvPr id="35" name="矩形 34">
            <a:extLst>
              <a:ext uri="{FF2B5EF4-FFF2-40B4-BE49-F238E27FC236}">
                <a16:creationId xmlns:a16="http://schemas.microsoft.com/office/drawing/2014/main" id="{D58E90B3-17BB-46E8-82D2-A6A80D642040}"/>
              </a:ext>
            </a:extLst>
          </p:cNvPr>
          <p:cNvSpPr/>
          <p:nvPr/>
        </p:nvSpPr>
        <p:spPr>
          <a:xfrm>
            <a:off x="498231" y="4123727"/>
            <a:ext cx="3207496"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性能问题</a:t>
            </a:r>
          </a:p>
        </p:txBody>
      </p:sp>
    </p:spTree>
    <p:extLst>
      <p:ext uri="{BB962C8B-B14F-4D97-AF65-F5344CB8AC3E}">
        <p14:creationId xmlns:p14="http://schemas.microsoft.com/office/powerpoint/2010/main" val="2935915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en-US" altLang="zh-CN" dirty="0" err="1"/>
              <a:t>OoOE</a:t>
            </a:r>
            <a:r>
              <a:rPr lang="en-US" altLang="zh-CN" dirty="0"/>
              <a:t> </a:t>
            </a:r>
            <a:r>
              <a:rPr lang="zh-CN" altLang="en-US" dirty="0"/>
              <a:t>乱序执行</a:t>
            </a:r>
          </a:p>
        </p:txBody>
      </p:sp>
      <p:sp>
        <p:nvSpPr>
          <p:cNvPr id="7" name="矩形 6">
            <a:extLst>
              <a:ext uri="{FF2B5EF4-FFF2-40B4-BE49-F238E27FC236}">
                <a16:creationId xmlns:a16="http://schemas.microsoft.com/office/drawing/2014/main" id="{02C7C5C0-C80B-44D5-B62A-48F1E5AF622D}"/>
              </a:ext>
            </a:extLst>
          </p:cNvPr>
          <p:cNvSpPr/>
          <p:nvPr/>
        </p:nvSpPr>
        <p:spPr>
          <a:xfrm>
            <a:off x="498231" y="1010495"/>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指令流水线</a:t>
            </a:r>
            <a:r>
              <a:rPr lang="en-US" altLang="zh-CN" dirty="0"/>
              <a:t>(pipeline)</a:t>
            </a:r>
            <a:endParaRPr lang="zh-CN" altLang="en-US" dirty="0"/>
          </a:p>
        </p:txBody>
      </p:sp>
      <p:sp>
        <p:nvSpPr>
          <p:cNvPr id="25" name="矩形 24">
            <a:extLst>
              <a:ext uri="{FF2B5EF4-FFF2-40B4-BE49-F238E27FC236}">
                <a16:creationId xmlns:a16="http://schemas.microsoft.com/office/drawing/2014/main" id="{6A545B4A-EACB-489B-A959-B154919D37AC}"/>
              </a:ext>
            </a:extLst>
          </p:cNvPr>
          <p:cNvSpPr/>
          <p:nvPr/>
        </p:nvSpPr>
        <p:spPr>
          <a:xfrm>
            <a:off x="5439200" y="2698178"/>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动态分支预测器命中率 </a:t>
            </a:r>
            <a:r>
              <a:rPr lang="en-US" altLang="zh-CN" dirty="0"/>
              <a:t>&gt;90%</a:t>
            </a:r>
            <a:endParaRPr lang="zh-CN" altLang="en-US" dirty="0"/>
          </a:p>
        </p:txBody>
      </p:sp>
      <p:sp>
        <p:nvSpPr>
          <p:cNvPr id="31" name="矩形 30">
            <a:extLst>
              <a:ext uri="{FF2B5EF4-FFF2-40B4-BE49-F238E27FC236}">
                <a16:creationId xmlns:a16="http://schemas.microsoft.com/office/drawing/2014/main" id="{DE5FC6E6-95E7-409A-888A-A62981BE8ABC}"/>
              </a:ext>
            </a:extLst>
          </p:cNvPr>
          <p:cNvSpPr/>
          <p:nvPr/>
        </p:nvSpPr>
        <p:spPr>
          <a:xfrm>
            <a:off x="498231" y="3314779"/>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分支预测和延迟分支</a:t>
            </a:r>
          </a:p>
        </p:txBody>
      </p:sp>
      <p:sp>
        <p:nvSpPr>
          <p:cNvPr id="33" name="矩形 32">
            <a:extLst>
              <a:ext uri="{FF2B5EF4-FFF2-40B4-BE49-F238E27FC236}">
                <a16:creationId xmlns:a16="http://schemas.microsoft.com/office/drawing/2014/main" id="{EF5CAC64-4D93-4CBB-BD7C-D4A57DA3741D}"/>
              </a:ext>
            </a:extLst>
          </p:cNvPr>
          <p:cNvSpPr/>
          <p:nvPr/>
        </p:nvSpPr>
        <p:spPr>
          <a:xfrm>
            <a:off x="5439200" y="3970578"/>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多个分支同时计算 取正确结果</a:t>
            </a:r>
          </a:p>
        </p:txBody>
      </p:sp>
    </p:spTree>
    <p:extLst>
      <p:ext uri="{BB962C8B-B14F-4D97-AF65-F5344CB8AC3E}">
        <p14:creationId xmlns:p14="http://schemas.microsoft.com/office/powerpoint/2010/main" val="3399186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en-US" altLang="zh-CN" dirty="0" err="1"/>
              <a:t>OoOE</a:t>
            </a:r>
            <a:r>
              <a:rPr lang="en-US" altLang="zh-CN" dirty="0"/>
              <a:t> </a:t>
            </a:r>
            <a:r>
              <a:rPr lang="zh-CN" altLang="en-US" dirty="0"/>
              <a:t>乱序执行</a:t>
            </a:r>
          </a:p>
        </p:txBody>
      </p:sp>
      <p:sp>
        <p:nvSpPr>
          <p:cNvPr id="7" name="矩形 6">
            <a:extLst>
              <a:ext uri="{FF2B5EF4-FFF2-40B4-BE49-F238E27FC236}">
                <a16:creationId xmlns:a16="http://schemas.microsoft.com/office/drawing/2014/main" id="{02C7C5C0-C80B-44D5-B62A-48F1E5AF622D}"/>
              </a:ext>
            </a:extLst>
          </p:cNvPr>
          <p:cNvSpPr/>
          <p:nvPr/>
        </p:nvSpPr>
        <p:spPr>
          <a:xfrm>
            <a:off x="498231" y="1010495"/>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指令流水线</a:t>
            </a:r>
            <a:r>
              <a:rPr lang="en-US" altLang="zh-CN" dirty="0"/>
              <a:t>(pipeline)</a:t>
            </a:r>
            <a:endParaRPr lang="zh-CN" altLang="en-US" dirty="0"/>
          </a:p>
        </p:txBody>
      </p:sp>
      <p:sp>
        <p:nvSpPr>
          <p:cNvPr id="25" name="矩形 24">
            <a:extLst>
              <a:ext uri="{FF2B5EF4-FFF2-40B4-BE49-F238E27FC236}">
                <a16:creationId xmlns:a16="http://schemas.microsoft.com/office/drawing/2014/main" id="{6A545B4A-EACB-489B-A959-B154919D37AC}"/>
              </a:ext>
            </a:extLst>
          </p:cNvPr>
          <p:cNvSpPr/>
          <p:nvPr/>
        </p:nvSpPr>
        <p:spPr>
          <a:xfrm>
            <a:off x="5439200" y="2698178"/>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ROB</a:t>
            </a:r>
            <a:r>
              <a:rPr lang="zh-CN" altLang="en-US" dirty="0"/>
              <a:t>结果缓冲区</a:t>
            </a:r>
          </a:p>
        </p:txBody>
      </p:sp>
      <p:sp>
        <p:nvSpPr>
          <p:cNvPr id="31" name="矩形 30">
            <a:extLst>
              <a:ext uri="{FF2B5EF4-FFF2-40B4-BE49-F238E27FC236}">
                <a16:creationId xmlns:a16="http://schemas.microsoft.com/office/drawing/2014/main" id="{DE5FC6E6-95E7-409A-888A-A62981BE8ABC}"/>
              </a:ext>
            </a:extLst>
          </p:cNvPr>
          <p:cNvSpPr/>
          <p:nvPr/>
        </p:nvSpPr>
        <p:spPr>
          <a:xfrm>
            <a:off x="498231" y="3314779"/>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乱序执行</a:t>
            </a:r>
          </a:p>
        </p:txBody>
      </p:sp>
      <p:sp>
        <p:nvSpPr>
          <p:cNvPr id="33" name="矩形 32">
            <a:extLst>
              <a:ext uri="{FF2B5EF4-FFF2-40B4-BE49-F238E27FC236}">
                <a16:creationId xmlns:a16="http://schemas.microsoft.com/office/drawing/2014/main" id="{EF5CAC64-4D93-4CBB-BD7C-D4A57DA3741D}"/>
              </a:ext>
            </a:extLst>
          </p:cNvPr>
          <p:cNvSpPr/>
          <p:nvPr/>
        </p:nvSpPr>
        <p:spPr>
          <a:xfrm>
            <a:off x="5439200" y="3970578"/>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寄存器重命名和映射表</a:t>
            </a:r>
          </a:p>
        </p:txBody>
      </p:sp>
    </p:spTree>
    <p:extLst>
      <p:ext uri="{BB962C8B-B14F-4D97-AF65-F5344CB8AC3E}">
        <p14:creationId xmlns:p14="http://schemas.microsoft.com/office/powerpoint/2010/main" val="237223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en-US" altLang="zh-CN" dirty="0" err="1"/>
              <a:t>OoOE</a:t>
            </a:r>
            <a:r>
              <a:rPr lang="en-US" altLang="zh-CN" dirty="0"/>
              <a:t> </a:t>
            </a:r>
            <a:r>
              <a:rPr lang="zh-CN" altLang="en-US" dirty="0"/>
              <a:t>乱序执行</a:t>
            </a:r>
          </a:p>
        </p:txBody>
      </p:sp>
      <p:sp>
        <p:nvSpPr>
          <p:cNvPr id="25" name="矩形 24">
            <a:extLst>
              <a:ext uri="{FF2B5EF4-FFF2-40B4-BE49-F238E27FC236}">
                <a16:creationId xmlns:a16="http://schemas.microsoft.com/office/drawing/2014/main" id="{6A545B4A-EACB-489B-A959-B154919D37AC}"/>
              </a:ext>
            </a:extLst>
          </p:cNvPr>
          <p:cNvSpPr/>
          <p:nvPr/>
        </p:nvSpPr>
        <p:spPr>
          <a:xfrm>
            <a:off x="498231" y="2421220"/>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分派到指令队列</a:t>
            </a:r>
          </a:p>
        </p:txBody>
      </p:sp>
      <p:sp>
        <p:nvSpPr>
          <p:cNvPr id="31" name="矩形 30">
            <a:extLst>
              <a:ext uri="{FF2B5EF4-FFF2-40B4-BE49-F238E27FC236}">
                <a16:creationId xmlns:a16="http://schemas.microsoft.com/office/drawing/2014/main" id="{DE5FC6E6-95E7-409A-888A-A62981BE8ABC}"/>
              </a:ext>
            </a:extLst>
          </p:cNvPr>
          <p:cNvSpPr/>
          <p:nvPr/>
        </p:nvSpPr>
        <p:spPr>
          <a:xfrm>
            <a:off x="498231" y="1269446"/>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取指令</a:t>
            </a:r>
          </a:p>
        </p:txBody>
      </p:sp>
      <p:sp>
        <p:nvSpPr>
          <p:cNvPr id="33" name="矩形 32">
            <a:extLst>
              <a:ext uri="{FF2B5EF4-FFF2-40B4-BE49-F238E27FC236}">
                <a16:creationId xmlns:a16="http://schemas.microsoft.com/office/drawing/2014/main" id="{EF5CAC64-4D93-4CBB-BD7C-D4A57DA3741D}"/>
              </a:ext>
            </a:extLst>
          </p:cNvPr>
          <p:cNvSpPr/>
          <p:nvPr/>
        </p:nvSpPr>
        <p:spPr>
          <a:xfrm>
            <a:off x="498231" y="4722746"/>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发布到功能单元执行</a:t>
            </a:r>
          </a:p>
        </p:txBody>
      </p:sp>
      <p:sp>
        <p:nvSpPr>
          <p:cNvPr id="8" name="矩形 7">
            <a:extLst>
              <a:ext uri="{FF2B5EF4-FFF2-40B4-BE49-F238E27FC236}">
                <a16:creationId xmlns:a16="http://schemas.microsoft.com/office/drawing/2014/main" id="{F84F5881-A594-4C43-8E2B-92DC5513B084}"/>
              </a:ext>
            </a:extLst>
          </p:cNvPr>
          <p:cNvSpPr/>
          <p:nvPr/>
        </p:nvSpPr>
        <p:spPr>
          <a:xfrm>
            <a:off x="498231" y="3594494"/>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排队</a:t>
            </a:r>
          </a:p>
        </p:txBody>
      </p:sp>
      <p:sp>
        <p:nvSpPr>
          <p:cNvPr id="9" name="矩形 8">
            <a:extLst>
              <a:ext uri="{FF2B5EF4-FFF2-40B4-BE49-F238E27FC236}">
                <a16:creationId xmlns:a16="http://schemas.microsoft.com/office/drawing/2014/main" id="{40EF541E-4D97-451E-BB79-E56DFC4C2105}"/>
              </a:ext>
            </a:extLst>
          </p:cNvPr>
          <p:cNvSpPr/>
          <p:nvPr/>
        </p:nvSpPr>
        <p:spPr>
          <a:xfrm>
            <a:off x="498231" y="5806134"/>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结果排队</a:t>
            </a:r>
          </a:p>
        </p:txBody>
      </p:sp>
      <p:sp>
        <p:nvSpPr>
          <p:cNvPr id="10" name="矩形 9">
            <a:extLst>
              <a:ext uri="{FF2B5EF4-FFF2-40B4-BE49-F238E27FC236}">
                <a16:creationId xmlns:a16="http://schemas.microsoft.com/office/drawing/2014/main" id="{43C374C5-CAA7-47B2-8BC4-634A5D328FBE}"/>
              </a:ext>
            </a:extLst>
          </p:cNvPr>
          <p:cNvSpPr/>
          <p:nvPr/>
        </p:nvSpPr>
        <p:spPr>
          <a:xfrm>
            <a:off x="6674442" y="2862646"/>
            <a:ext cx="454628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数据顺序重排序</a:t>
            </a:r>
          </a:p>
        </p:txBody>
      </p:sp>
    </p:spTree>
    <p:extLst>
      <p:ext uri="{BB962C8B-B14F-4D97-AF65-F5344CB8AC3E}">
        <p14:creationId xmlns:p14="http://schemas.microsoft.com/office/powerpoint/2010/main" val="2682533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en-US" altLang="zh-CN" dirty="0" err="1"/>
              <a:t>OoOE</a:t>
            </a:r>
            <a:r>
              <a:rPr lang="en-US" altLang="zh-CN" dirty="0"/>
              <a:t> </a:t>
            </a:r>
            <a:r>
              <a:rPr lang="zh-CN" altLang="en-US" dirty="0"/>
              <a:t>乱序执行</a:t>
            </a:r>
          </a:p>
        </p:txBody>
      </p:sp>
      <p:pic>
        <p:nvPicPr>
          <p:cNvPr id="10" name="图片 9">
            <a:extLst>
              <a:ext uri="{FF2B5EF4-FFF2-40B4-BE49-F238E27FC236}">
                <a16:creationId xmlns:a16="http://schemas.microsoft.com/office/drawing/2014/main" id="{55A3212D-4C86-4F98-8790-F5DCF5D652E1}"/>
              </a:ext>
            </a:extLst>
          </p:cNvPr>
          <p:cNvPicPr>
            <a:picLocks noChangeAspect="1"/>
          </p:cNvPicPr>
          <p:nvPr/>
        </p:nvPicPr>
        <p:blipFill>
          <a:blip r:embed="rId3"/>
          <a:stretch>
            <a:fillRect/>
          </a:stretch>
        </p:blipFill>
        <p:spPr>
          <a:xfrm>
            <a:off x="498231" y="1869702"/>
            <a:ext cx="10844206" cy="3584613"/>
          </a:xfrm>
          <a:prstGeom prst="rect">
            <a:avLst/>
          </a:prstGeom>
        </p:spPr>
      </p:pic>
    </p:spTree>
    <p:extLst>
      <p:ext uri="{BB962C8B-B14F-4D97-AF65-F5344CB8AC3E}">
        <p14:creationId xmlns:p14="http://schemas.microsoft.com/office/powerpoint/2010/main" val="26038539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en-US" altLang="zh-CN" dirty="0" err="1"/>
              <a:t>OoOE</a:t>
            </a:r>
            <a:r>
              <a:rPr lang="en-US" altLang="zh-CN" dirty="0"/>
              <a:t> </a:t>
            </a:r>
            <a:r>
              <a:rPr lang="zh-CN" altLang="en-US" dirty="0"/>
              <a:t>乱序执行</a:t>
            </a:r>
          </a:p>
        </p:txBody>
      </p:sp>
      <p:sp>
        <p:nvSpPr>
          <p:cNvPr id="3" name="矩形 2">
            <a:extLst>
              <a:ext uri="{FF2B5EF4-FFF2-40B4-BE49-F238E27FC236}">
                <a16:creationId xmlns:a16="http://schemas.microsoft.com/office/drawing/2014/main" id="{18F9F625-36EF-459E-AC6E-06458D988907}"/>
              </a:ext>
            </a:extLst>
          </p:cNvPr>
          <p:cNvSpPr/>
          <p:nvPr/>
        </p:nvSpPr>
        <p:spPr>
          <a:xfrm>
            <a:off x="1267326" y="1556084"/>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rdtsc</a:t>
            </a:r>
            <a:r>
              <a:rPr lang="en-US" altLang="zh-CN" dirty="0"/>
              <a:t>=&gt;</a:t>
            </a:r>
            <a:r>
              <a:rPr lang="en-US" altLang="zh-CN" dirty="0" err="1"/>
              <a:t>rdx</a:t>
            </a:r>
            <a:r>
              <a:rPr lang="en-US" altLang="zh-CN" dirty="0"/>
              <a:t> </a:t>
            </a:r>
            <a:r>
              <a:rPr lang="en-US" altLang="zh-CN" dirty="0" err="1"/>
              <a:t>rax</a:t>
            </a:r>
            <a:endParaRPr lang="zh-CN" altLang="en-US" dirty="0"/>
          </a:p>
        </p:txBody>
      </p:sp>
      <p:sp>
        <p:nvSpPr>
          <p:cNvPr id="5" name="矩形 4">
            <a:extLst>
              <a:ext uri="{FF2B5EF4-FFF2-40B4-BE49-F238E27FC236}">
                <a16:creationId xmlns:a16="http://schemas.microsoft.com/office/drawing/2014/main" id="{BA17D76E-B46E-4AA0-B3D8-374EC8DF1B1D}"/>
              </a:ext>
            </a:extLst>
          </p:cNvPr>
          <p:cNvSpPr/>
          <p:nvPr/>
        </p:nvSpPr>
        <p:spPr>
          <a:xfrm>
            <a:off x="1267326" y="3625515"/>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rdtsc</a:t>
            </a:r>
            <a:r>
              <a:rPr lang="en-US" altLang="zh-CN" dirty="0"/>
              <a:t>=&gt;</a:t>
            </a:r>
            <a:r>
              <a:rPr lang="en-US" altLang="zh-CN" dirty="0" err="1"/>
              <a:t>rdx</a:t>
            </a:r>
            <a:r>
              <a:rPr lang="en-US" altLang="zh-CN" dirty="0"/>
              <a:t> </a:t>
            </a:r>
            <a:r>
              <a:rPr lang="en-US" altLang="zh-CN" dirty="0" err="1"/>
              <a:t>rax</a:t>
            </a:r>
            <a:endParaRPr lang="zh-CN" altLang="en-US" dirty="0"/>
          </a:p>
        </p:txBody>
      </p:sp>
      <p:sp>
        <p:nvSpPr>
          <p:cNvPr id="6" name="矩形 5">
            <a:extLst>
              <a:ext uri="{FF2B5EF4-FFF2-40B4-BE49-F238E27FC236}">
                <a16:creationId xmlns:a16="http://schemas.microsoft.com/office/drawing/2014/main" id="{DC6801E8-8413-4BDB-8110-6A8782C70328}"/>
              </a:ext>
            </a:extLst>
          </p:cNvPr>
          <p:cNvSpPr/>
          <p:nvPr/>
        </p:nvSpPr>
        <p:spPr>
          <a:xfrm>
            <a:off x="1267326" y="2590799"/>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rdtsc</a:t>
            </a:r>
            <a:r>
              <a:rPr lang="en-US" altLang="zh-CN" dirty="0"/>
              <a:t>=&gt;</a:t>
            </a:r>
            <a:r>
              <a:rPr lang="en-US" altLang="zh-CN" dirty="0" err="1"/>
              <a:t>rdx</a:t>
            </a:r>
            <a:r>
              <a:rPr lang="en-US" altLang="zh-CN" dirty="0"/>
              <a:t> </a:t>
            </a:r>
            <a:r>
              <a:rPr lang="en-US" altLang="zh-CN" dirty="0" err="1"/>
              <a:t>rax</a:t>
            </a:r>
            <a:endParaRPr lang="zh-CN" altLang="en-US" dirty="0"/>
          </a:p>
        </p:txBody>
      </p:sp>
      <p:sp>
        <p:nvSpPr>
          <p:cNvPr id="7" name="矩形 6">
            <a:extLst>
              <a:ext uri="{FF2B5EF4-FFF2-40B4-BE49-F238E27FC236}">
                <a16:creationId xmlns:a16="http://schemas.microsoft.com/office/drawing/2014/main" id="{F29191E0-16E3-4CC5-A99F-FBF5023B0F46}"/>
              </a:ext>
            </a:extLst>
          </p:cNvPr>
          <p:cNvSpPr/>
          <p:nvPr/>
        </p:nvSpPr>
        <p:spPr>
          <a:xfrm>
            <a:off x="3718683" y="1556083"/>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==&gt; r0</a:t>
            </a:r>
            <a:endParaRPr lang="zh-CN" altLang="en-US" dirty="0"/>
          </a:p>
        </p:txBody>
      </p:sp>
      <p:sp>
        <p:nvSpPr>
          <p:cNvPr id="8" name="矩形 7">
            <a:extLst>
              <a:ext uri="{FF2B5EF4-FFF2-40B4-BE49-F238E27FC236}">
                <a16:creationId xmlns:a16="http://schemas.microsoft.com/office/drawing/2014/main" id="{79909FBC-5A55-4883-A2ED-02E608C8D08A}"/>
              </a:ext>
            </a:extLst>
          </p:cNvPr>
          <p:cNvSpPr/>
          <p:nvPr/>
        </p:nvSpPr>
        <p:spPr>
          <a:xfrm>
            <a:off x="3718683" y="2590798"/>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==&gt; r1</a:t>
            </a:r>
            <a:endParaRPr lang="zh-CN" altLang="en-US" dirty="0"/>
          </a:p>
        </p:txBody>
      </p:sp>
      <p:sp>
        <p:nvSpPr>
          <p:cNvPr id="9" name="矩形 8">
            <a:extLst>
              <a:ext uri="{FF2B5EF4-FFF2-40B4-BE49-F238E27FC236}">
                <a16:creationId xmlns:a16="http://schemas.microsoft.com/office/drawing/2014/main" id="{21ACCCBA-914B-4932-A765-E5484B848752}"/>
              </a:ext>
            </a:extLst>
          </p:cNvPr>
          <p:cNvSpPr/>
          <p:nvPr/>
        </p:nvSpPr>
        <p:spPr>
          <a:xfrm>
            <a:off x="3718683" y="3625515"/>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==&gt; r2</a:t>
            </a:r>
            <a:endParaRPr lang="zh-CN" altLang="en-US" dirty="0"/>
          </a:p>
        </p:txBody>
      </p:sp>
      <p:sp>
        <p:nvSpPr>
          <p:cNvPr id="11" name="矩形 10">
            <a:extLst>
              <a:ext uri="{FF2B5EF4-FFF2-40B4-BE49-F238E27FC236}">
                <a16:creationId xmlns:a16="http://schemas.microsoft.com/office/drawing/2014/main" id="{1F4D0D1F-E534-49E6-8F4A-F46F289A510E}"/>
              </a:ext>
            </a:extLst>
          </p:cNvPr>
          <p:cNvSpPr/>
          <p:nvPr/>
        </p:nvSpPr>
        <p:spPr>
          <a:xfrm>
            <a:off x="1267325" y="4666377"/>
            <a:ext cx="448870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cost= r2 - r0</a:t>
            </a:r>
            <a:endParaRPr lang="zh-CN" altLang="en-US" dirty="0"/>
          </a:p>
        </p:txBody>
      </p:sp>
      <p:sp>
        <p:nvSpPr>
          <p:cNvPr id="12" name="矩形 11">
            <a:extLst>
              <a:ext uri="{FF2B5EF4-FFF2-40B4-BE49-F238E27FC236}">
                <a16:creationId xmlns:a16="http://schemas.microsoft.com/office/drawing/2014/main" id="{3A5C5E24-200C-4081-86FD-03938525D349}"/>
              </a:ext>
            </a:extLst>
          </p:cNvPr>
          <p:cNvSpPr/>
          <p:nvPr/>
        </p:nvSpPr>
        <p:spPr>
          <a:xfrm>
            <a:off x="6272462" y="4666377"/>
            <a:ext cx="448870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write cost to memory</a:t>
            </a:r>
            <a:endParaRPr lang="zh-CN" altLang="en-US" dirty="0"/>
          </a:p>
        </p:txBody>
      </p:sp>
    </p:spTree>
    <p:extLst>
      <p:ext uri="{BB962C8B-B14F-4D97-AF65-F5344CB8AC3E}">
        <p14:creationId xmlns:p14="http://schemas.microsoft.com/office/powerpoint/2010/main" val="883403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en-US" altLang="zh-CN" dirty="0" err="1"/>
              <a:t>OoOE</a:t>
            </a:r>
            <a:r>
              <a:rPr lang="en-US" altLang="zh-CN" dirty="0"/>
              <a:t> </a:t>
            </a:r>
            <a:r>
              <a:rPr lang="zh-CN" altLang="en-US" dirty="0"/>
              <a:t>乱序执行</a:t>
            </a:r>
          </a:p>
        </p:txBody>
      </p:sp>
      <p:sp>
        <p:nvSpPr>
          <p:cNvPr id="3" name="矩形 2">
            <a:extLst>
              <a:ext uri="{FF2B5EF4-FFF2-40B4-BE49-F238E27FC236}">
                <a16:creationId xmlns:a16="http://schemas.microsoft.com/office/drawing/2014/main" id="{18F9F625-36EF-459E-AC6E-06458D988907}"/>
              </a:ext>
            </a:extLst>
          </p:cNvPr>
          <p:cNvSpPr/>
          <p:nvPr/>
        </p:nvSpPr>
        <p:spPr>
          <a:xfrm>
            <a:off x="1267326" y="1556084"/>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rdtsc</a:t>
            </a:r>
            <a:r>
              <a:rPr lang="en-US" altLang="zh-CN" dirty="0"/>
              <a:t>=&gt;</a:t>
            </a:r>
            <a:r>
              <a:rPr lang="en-US" altLang="zh-CN" dirty="0" err="1"/>
              <a:t>rdx</a:t>
            </a:r>
            <a:r>
              <a:rPr lang="en-US" altLang="zh-CN" dirty="0"/>
              <a:t> </a:t>
            </a:r>
            <a:r>
              <a:rPr lang="en-US" altLang="zh-CN" dirty="0" err="1"/>
              <a:t>rax</a:t>
            </a:r>
            <a:endParaRPr lang="zh-CN" altLang="en-US" dirty="0"/>
          </a:p>
        </p:txBody>
      </p:sp>
      <p:sp>
        <p:nvSpPr>
          <p:cNvPr id="5" name="矩形 4">
            <a:extLst>
              <a:ext uri="{FF2B5EF4-FFF2-40B4-BE49-F238E27FC236}">
                <a16:creationId xmlns:a16="http://schemas.microsoft.com/office/drawing/2014/main" id="{BA17D76E-B46E-4AA0-B3D8-374EC8DF1B1D}"/>
              </a:ext>
            </a:extLst>
          </p:cNvPr>
          <p:cNvSpPr/>
          <p:nvPr/>
        </p:nvSpPr>
        <p:spPr>
          <a:xfrm>
            <a:off x="1267326" y="3625515"/>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rdtsc</a:t>
            </a:r>
            <a:r>
              <a:rPr lang="en-US" altLang="zh-CN" dirty="0"/>
              <a:t>=&gt;</a:t>
            </a:r>
            <a:r>
              <a:rPr lang="en-US" altLang="zh-CN" dirty="0" err="1"/>
              <a:t>rdx</a:t>
            </a:r>
            <a:r>
              <a:rPr lang="en-US" altLang="zh-CN" dirty="0"/>
              <a:t> </a:t>
            </a:r>
            <a:r>
              <a:rPr lang="en-US" altLang="zh-CN" dirty="0" err="1"/>
              <a:t>rax</a:t>
            </a:r>
            <a:endParaRPr lang="zh-CN" altLang="en-US" dirty="0"/>
          </a:p>
        </p:txBody>
      </p:sp>
      <p:sp>
        <p:nvSpPr>
          <p:cNvPr id="7" name="矩形 6">
            <a:extLst>
              <a:ext uri="{FF2B5EF4-FFF2-40B4-BE49-F238E27FC236}">
                <a16:creationId xmlns:a16="http://schemas.microsoft.com/office/drawing/2014/main" id="{F29191E0-16E3-4CC5-A99F-FBF5023B0F46}"/>
              </a:ext>
            </a:extLst>
          </p:cNvPr>
          <p:cNvSpPr/>
          <p:nvPr/>
        </p:nvSpPr>
        <p:spPr>
          <a:xfrm>
            <a:off x="3718683" y="1556083"/>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==&gt; write m1</a:t>
            </a:r>
            <a:endParaRPr lang="zh-CN" altLang="en-US" dirty="0"/>
          </a:p>
        </p:txBody>
      </p:sp>
      <p:sp>
        <p:nvSpPr>
          <p:cNvPr id="8" name="矩形 7">
            <a:extLst>
              <a:ext uri="{FF2B5EF4-FFF2-40B4-BE49-F238E27FC236}">
                <a16:creationId xmlns:a16="http://schemas.microsoft.com/office/drawing/2014/main" id="{79909FBC-5A55-4883-A2ED-02E608C8D08A}"/>
              </a:ext>
            </a:extLst>
          </p:cNvPr>
          <p:cNvSpPr/>
          <p:nvPr/>
        </p:nvSpPr>
        <p:spPr>
          <a:xfrm>
            <a:off x="1267326" y="2664033"/>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读</a:t>
            </a:r>
          </a:p>
        </p:txBody>
      </p:sp>
      <p:sp>
        <p:nvSpPr>
          <p:cNvPr id="9" name="矩形 8">
            <a:extLst>
              <a:ext uri="{FF2B5EF4-FFF2-40B4-BE49-F238E27FC236}">
                <a16:creationId xmlns:a16="http://schemas.microsoft.com/office/drawing/2014/main" id="{21ACCCBA-914B-4932-A765-E5484B848752}"/>
              </a:ext>
            </a:extLst>
          </p:cNvPr>
          <p:cNvSpPr/>
          <p:nvPr/>
        </p:nvSpPr>
        <p:spPr>
          <a:xfrm>
            <a:off x="3718683" y="3625515"/>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==&gt; write m2</a:t>
            </a:r>
            <a:endParaRPr lang="zh-CN" altLang="en-US" dirty="0"/>
          </a:p>
        </p:txBody>
      </p:sp>
      <p:sp>
        <p:nvSpPr>
          <p:cNvPr id="11" name="矩形 10">
            <a:extLst>
              <a:ext uri="{FF2B5EF4-FFF2-40B4-BE49-F238E27FC236}">
                <a16:creationId xmlns:a16="http://schemas.microsoft.com/office/drawing/2014/main" id="{1F4D0D1F-E534-49E6-8F4A-F46F289A510E}"/>
              </a:ext>
            </a:extLst>
          </p:cNvPr>
          <p:cNvSpPr/>
          <p:nvPr/>
        </p:nvSpPr>
        <p:spPr>
          <a:xfrm>
            <a:off x="1267325" y="4666377"/>
            <a:ext cx="448870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cost= m2 - m1</a:t>
            </a:r>
            <a:endParaRPr lang="zh-CN" altLang="en-US" dirty="0"/>
          </a:p>
        </p:txBody>
      </p:sp>
      <p:sp>
        <p:nvSpPr>
          <p:cNvPr id="12" name="矩形 11">
            <a:extLst>
              <a:ext uri="{FF2B5EF4-FFF2-40B4-BE49-F238E27FC236}">
                <a16:creationId xmlns:a16="http://schemas.microsoft.com/office/drawing/2014/main" id="{3A5C5E24-200C-4081-86FD-03938525D349}"/>
              </a:ext>
            </a:extLst>
          </p:cNvPr>
          <p:cNvSpPr/>
          <p:nvPr/>
        </p:nvSpPr>
        <p:spPr>
          <a:xfrm>
            <a:off x="6272462" y="4666377"/>
            <a:ext cx="448870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write cost to memory</a:t>
            </a:r>
            <a:endParaRPr lang="zh-CN" altLang="en-US" dirty="0"/>
          </a:p>
        </p:txBody>
      </p:sp>
      <p:sp>
        <p:nvSpPr>
          <p:cNvPr id="17" name="矩形 16">
            <a:extLst>
              <a:ext uri="{FF2B5EF4-FFF2-40B4-BE49-F238E27FC236}">
                <a16:creationId xmlns:a16="http://schemas.microsoft.com/office/drawing/2014/main" id="{BE6C749C-2014-41BD-ABCC-80B2F8E87BCB}"/>
              </a:ext>
            </a:extLst>
          </p:cNvPr>
          <p:cNvSpPr/>
          <p:nvPr/>
        </p:nvSpPr>
        <p:spPr>
          <a:xfrm>
            <a:off x="3718682" y="2664032"/>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写</a:t>
            </a:r>
          </a:p>
        </p:txBody>
      </p:sp>
    </p:spTree>
    <p:extLst>
      <p:ext uri="{BB962C8B-B14F-4D97-AF65-F5344CB8AC3E}">
        <p14:creationId xmlns:p14="http://schemas.microsoft.com/office/powerpoint/2010/main" val="60634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en-US" altLang="zh-CN" dirty="0" err="1"/>
              <a:t>OoOE</a:t>
            </a:r>
            <a:r>
              <a:rPr lang="en-US" altLang="zh-CN" dirty="0"/>
              <a:t> </a:t>
            </a:r>
            <a:r>
              <a:rPr lang="zh-CN" altLang="en-US" dirty="0"/>
              <a:t>乱序执行</a:t>
            </a:r>
          </a:p>
        </p:txBody>
      </p:sp>
      <p:sp>
        <p:nvSpPr>
          <p:cNvPr id="3" name="矩形 2">
            <a:extLst>
              <a:ext uri="{FF2B5EF4-FFF2-40B4-BE49-F238E27FC236}">
                <a16:creationId xmlns:a16="http://schemas.microsoft.com/office/drawing/2014/main" id="{18F9F625-36EF-459E-AC6E-06458D988907}"/>
              </a:ext>
            </a:extLst>
          </p:cNvPr>
          <p:cNvSpPr/>
          <p:nvPr/>
        </p:nvSpPr>
        <p:spPr>
          <a:xfrm>
            <a:off x="1267326" y="1556084"/>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rdtsc</a:t>
            </a:r>
            <a:r>
              <a:rPr lang="en-US" altLang="zh-CN" dirty="0"/>
              <a:t>=&gt;</a:t>
            </a:r>
            <a:r>
              <a:rPr lang="en-US" altLang="zh-CN" dirty="0" err="1"/>
              <a:t>rdx</a:t>
            </a:r>
            <a:r>
              <a:rPr lang="en-US" altLang="zh-CN" dirty="0"/>
              <a:t> </a:t>
            </a:r>
            <a:r>
              <a:rPr lang="en-US" altLang="zh-CN" dirty="0" err="1"/>
              <a:t>rax</a:t>
            </a:r>
            <a:endParaRPr lang="zh-CN" altLang="en-US" dirty="0"/>
          </a:p>
        </p:txBody>
      </p:sp>
      <p:sp>
        <p:nvSpPr>
          <p:cNvPr id="5" name="矩形 4">
            <a:extLst>
              <a:ext uri="{FF2B5EF4-FFF2-40B4-BE49-F238E27FC236}">
                <a16:creationId xmlns:a16="http://schemas.microsoft.com/office/drawing/2014/main" id="{BA17D76E-B46E-4AA0-B3D8-374EC8DF1B1D}"/>
              </a:ext>
            </a:extLst>
          </p:cNvPr>
          <p:cNvSpPr/>
          <p:nvPr/>
        </p:nvSpPr>
        <p:spPr>
          <a:xfrm>
            <a:off x="1267326" y="3625515"/>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rdtsc</a:t>
            </a:r>
            <a:r>
              <a:rPr lang="en-US" altLang="zh-CN" dirty="0"/>
              <a:t>=&gt;</a:t>
            </a:r>
            <a:r>
              <a:rPr lang="en-US" altLang="zh-CN" dirty="0" err="1"/>
              <a:t>rdx</a:t>
            </a:r>
            <a:r>
              <a:rPr lang="en-US" altLang="zh-CN" dirty="0"/>
              <a:t> </a:t>
            </a:r>
            <a:r>
              <a:rPr lang="en-US" altLang="zh-CN" dirty="0" err="1"/>
              <a:t>rax</a:t>
            </a:r>
            <a:endParaRPr lang="zh-CN" altLang="en-US" dirty="0"/>
          </a:p>
        </p:txBody>
      </p:sp>
      <p:sp>
        <p:nvSpPr>
          <p:cNvPr id="7" name="矩形 6">
            <a:extLst>
              <a:ext uri="{FF2B5EF4-FFF2-40B4-BE49-F238E27FC236}">
                <a16:creationId xmlns:a16="http://schemas.microsoft.com/office/drawing/2014/main" id="{F29191E0-16E3-4CC5-A99F-FBF5023B0F46}"/>
              </a:ext>
            </a:extLst>
          </p:cNvPr>
          <p:cNvSpPr/>
          <p:nvPr/>
        </p:nvSpPr>
        <p:spPr>
          <a:xfrm>
            <a:off x="3718683" y="1556083"/>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==&gt; write m1</a:t>
            </a:r>
            <a:endParaRPr lang="zh-CN" altLang="en-US" dirty="0"/>
          </a:p>
        </p:txBody>
      </p:sp>
      <p:sp>
        <p:nvSpPr>
          <p:cNvPr id="9" name="矩形 8">
            <a:extLst>
              <a:ext uri="{FF2B5EF4-FFF2-40B4-BE49-F238E27FC236}">
                <a16:creationId xmlns:a16="http://schemas.microsoft.com/office/drawing/2014/main" id="{21ACCCBA-914B-4932-A765-E5484B848752}"/>
              </a:ext>
            </a:extLst>
          </p:cNvPr>
          <p:cNvSpPr/>
          <p:nvPr/>
        </p:nvSpPr>
        <p:spPr>
          <a:xfrm>
            <a:off x="3718683" y="3625515"/>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==&gt; write m2</a:t>
            </a:r>
            <a:endParaRPr lang="zh-CN" altLang="en-US" dirty="0"/>
          </a:p>
        </p:txBody>
      </p:sp>
      <p:sp>
        <p:nvSpPr>
          <p:cNvPr id="11" name="矩形 10">
            <a:extLst>
              <a:ext uri="{FF2B5EF4-FFF2-40B4-BE49-F238E27FC236}">
                <a16:creationId xmlns:a16="http://schemas.microsoft.com/office/drawing/2014/main" id="{1F4D0D1F-E534-49E6-8F4A-F46F289A510E}"/>
              </a:ext>
            </a:extLst>
          </p:cNvPr>
          <p:cNvSpPr/>
          <p:nvPr/>
        </p:nvSpPr>
        <p:spPr>
          <a:xfrm>
            <a:off x="1267325" y="4666377"/>
            <a:ext cx="448870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cost= m2 - m1</a:t>
            </a:r>
            <a:endParaRPr lang="zh-CN" altLang="en-US" dirty="0"/>
          </a:p>
        </p:txBody>
      </p:sp>
      <p:sp>
        <p:nvSpPr>
          <p:cNvPr id="12" name="矩形 11">
            <a:extLst>
              <a:ext uri="{FF2B5EF4-FFF2-40B4-BE49-F238E27FC236}">
                <a16:creationId xmlns:a16="http://schemas.microsoft.com/office/drawing/2014/main" id="{3A5C5E24-200C-4081-86FD-03938525D349}"/>
              </a:ext>
            </a:extLst>
          </p:cNvPr>
          <p:cNvSpPr/>
          <p:nvPr/>
        </p:nvSpPr>
        <p:spPr>
          <a:xfrm>
            <a:off x="6272462" y="4666377"/>
            <a:ext cx="448870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write cost to memory</a:t>
            </a:r>
            <a:endParaRPr lang="zh-CN" altLang="en-US" dirty="0"/>
          </a:p>
        </p:txBody>
      </p:sp>
      <p:sp>
        <p:nvSpPr>
          <p:cNvPr id="13" name="矩形 12">
            <a:extLst>
              <a:ext uri="{FF2B5EF4-FFF2-40B4-BE49-F238E27FC236}">
                <a16:creationId xmlns:a16="http://schemas.microsoft.com/office/drawing/2014/main" id="{3B572D2C-5789-4169-BBFF-8BAE1E47D951}"/>
              </a:ext>
            </a:extLst>
          </p:cNvPr>
          <p:cNvSpPr/>
          <p:nvPr/>
        </p:nvSpPr>
        <p:spPr>
          <a:xfrm>
            <a:off x="6170040" y="1556084"/>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上游序列化</a:t>
            </a:r>
          </a:p>
        </p:txBody>
      </p:sp>
      <p:sp>
        <p:nvSpPr>
          <p:cNvPr id="14" name="矩形 13">
            <a:extLst>
              <a:ext uri="{FF2B5EF4-FFF2-40B4-BE49-F238E27FC236}">
                <a16:creationId xmlns:a16="http://schemas.microsoft.com/office/drawing/2014/main" id="{D5400A1C-4396-4CBB-920A-8B208B279858}"/>
              </a:ext>
            </a:extLst>
          </p:cNvPr>
          <p:cNvSpPr/>
          <p:nvPr/>
        </p:nvSpPr>
        <p:spPr>
          <a:xfrm>
            <a:off x="6170040" y="2590797"/>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上游序列化</a:t>
            </a:r>
          </a:p>
        </p:txBody>
      </p:sp>
      <p:sp>
        <p:nvSpPr>
          <p:cNvPr id="15" name="矩形 14">
            <a:extLst>
              <a:ext uri="{FF2B5EF4-FFF2-40B4-BE49-F238E27FC236}">
                <a16:creationId xmlns:a16="http://schemas.microsoft.com/office/drawing/2014/main" id="{1AF20E98-248A-46AA-BACC-F983FC6FDD76}"/>
              </a:ext>
            </a:extLst>
          </p:cNvPr>
          <p:cNvSpPr/>
          <p:nvPr/>
        </p:nvSpPr>
        <p:spPr>
          <a:xfrm>
            <a:off x="6170040" y="3625515"/>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上游序列化</a:t>
            </a:r>
          </a:p>
        </p:txBody>
      </p:sp>
      <p:sp>
        <p:nvSpPr>
          <p:cNvPr id="18" name="矩形 17">
            <a:extLst>
              <a:ext uri="{FF2B5EF4-FFF2-40B4-BE49-F238E27FC236}">
                <a16:creationId xmlns:a16="http://schemas.microsoft.com/office/drawing/2014/main" id="{6493520C-FBB7-4426-8120-DAE29E8DCDEF}"/>
              </a:ext>
            </a:extLst>
          </p:cNvPr>
          <p:cNvSpPr/>
          <p:nvPr/>
        </p:nvSpPr>
        <p:spPr>
          <a:xfrm>
            <a:off x="1267326" y="2664033"/>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读</a:t>
            </a:r>
          </a:p>
        </p:txBody>
      </p:sp>
      <p:sp>
        <p:nvSpPr>
          <p:cNvPr id="19" name="矩形 18">
            <a:extLst>
              <a:ext uri="{FF2B5EF4-FFF2-40B4-BE49-F238E27FC236}">
                <a16:creationId xmlns:a16="http://schemas.microsoft.com/office/drawing/2014/main" id="{322202F4-8140-40D6-822A-FCB47C8A06E0}"/>
              </a:ext>
            </a:extLst>
          </p:cNvPr>
          <p:cNvSpPr/>
          <p:nvPr/>
        </p:nvSpPr>
        <p:spPr>
          <a:xfrm>
            <a:off x="3718682" y="2664032"/>
            <a:ext cx="2037348"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写</a:t>
            </a:r>
          </a:p>
        </p:txBody>
      </p:sp>
    </p:spTree>
    <p:extLst>
      <p:ext uri="{BB962C8B-B14F-4D97-AF65-F5344CB8AC3E}">
        <p14:creationId xmlns:p14="http://schemas.microsoft.com/office/powerpoint/2010/main" val="948326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zh-CN" altLang="en-US" dirty="0"/>
              <a:t>上游指令序列化</a:t>
            </a:r>
          </a:p>
        </p:txBody>
      </p:sp>
      <p:pic>
        <p:nvPicPr>
          <p:cNvPr id="12" name="图片 11">
            <a:extLst>
              <a:ext uri="{FF2B5EF4-FFF2-40B4-BE49-F238E27FC236}">
                <a16:creationId xmlns:a16="http://schemas.microsoft.com/office/drawing/2014/main" id="{854BAB6C-D239-4CCB-978E-486718C16642}"/>
              </a:ext>
            </a:extLst>
          </p:cNvPr>
          <p:cNvPicPr>
            <a:picLocks noChangeAspect="1"/>
          </p:cNvPicPr>
          <p:nvPr/>
        </p:nvPicPr>
        <p:blipFill>
          <a:blip r:embed="rId3"/>
          <a:stretch>
            <a:fillRect/>
          </a:stretch>
        </p:blipFill>
        <p:spPr>
          <a:xfrm>
            <a:off x="635763" y="3678804"/>
            <a:ext cx="4271213" cy="1913503"/>
          </a:xfrm>
          <a:prstGeom prst="rect">
            <a:avLst/>
          </a:prstGeom>
        </p:spPr>
      </p:pic>
      <p:pic>
        <p:nvPicPr>
          <p:cNvPr id="4" name="图片 3">
            <a:extLst>
              <a:ext uri="{FF2B5EF4-FFF2-40B4-BE49-F238E27FC236}">
                <a16:creationId xmlns:a16="http://schemas.microsoft.com/office/drawing/2014/main" id="{60C297EB-FE53-4138-BF93-4DEF9236CC23}"/>
              </a:ext>
            </a:extLst>
          </p:cNvPr>
          <p:cNvPicPr>
            <a:picLocks noChangeAspect="1"/>
          </p:cNvPicPr>
          <p:nvPr/>
        </p:nvPicPr>
        <p:blipFill>
          <a:blip r:embed="rId4"/>
          <a:stretch>
            <a:fillRect/>
          </a:stretch>
        </p:blipFill>
        <p:spPr>
          <a:xfrm>
            <a:off x="5044512" y="3564116"/>
            <a:ext cx="7114286" cy="1866667"/>
          </a:xfrm>
          <a:prstGeom prst="rect">
            <a:avLst/>
          </a:prstGeom>
        </p:spPr>
      </p:pic>
      <p:pic>
        <p:nvPicPr>
          <p:cNvPr id="6" name="图片 5">
            <a:extLst>
              <a:ext uri="{FF2B5EF4-FFF2-40B4-BE49-F238E27FC236}">
                <a16:creationId xmlns:a16="http://schemas.microsoft.com/office/drawing/2014/main" id="{25EE3940-5204-494A-8520-4DC527B9EBB9}"/>
              </a:ext>
            </a:extLst>
          </p:cNvPr>
          <p:cNvPicPr>
            <a:picLocks noChangeAspect="1"/>
          </p:cNvPicPr>
          <p:nvPr/>
        </p:nvPicPr>
        <p:blipFill>
          <a:blip r:embed="rId5"/>
          <a:stretch>
            <a:fillRect/>
          </a:stretch>
        </p:blipFill>
        <p:spPr>
          <a:xfrm>
            <a:off x="5444512" y="1231236"/>
            <a:ext cx="5028648" cy="2100958"/>
          </a:xfrm>
          <a:prstGeom prst="rect">
            <a:avLst/>
          </a:prstGeom>
        </p:spPr>
      </p:pic>
    </p:spTree>
    <p:extLst>
      <p:ext uri="{BB962C8B-B14F-4D97-AF65-F5344CB8AC3E}">
        <p14:creationId xmlns:p14="http://schemas.microsoft.com/office/powerpoint/2010/main" val="3192612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D38CD16-293F-4DDC-9FAE-ABD0C70E6B06}"/>
              </a:ext>
            </a:extLst>
          </p:cNvPr>
          <p:cNvPicPr>
            <a:picLocks noChangeAspect="1"/>
          </p:cNvPicPr>
          <p:nvPr/>
        </p:nvPicPr>
        <p:blipFill>
          <a:blip r:embed="rId3"/>
          <a:stretch>
            <a:fillRect/>
          </a:stretch>
        </p:blipFill>
        <p:spPr>
          <a:xfrm>
            <a:off x="1534717" y="3076074"/>
            <a:ext cx="5331304" cy="3059759"/>
          </a:xfrm>
          <a:prstGeom prst="rect">
            <a:avLst/>
          </a:prstGeom>
        </p:spPr>
      </p:pic>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zh-CN" altLang="en-US" dirty="0"/>
              <a:t>上游指令序列化 </a:t>
            </a:r>
          </a:p>
        </p:txBody>
      </p:sp>
      <p:pic>
        <p:nvPicPr>
          <p:cNvPr id="7" name="图片 6">
            <a:extLst>
              <a:ext uri="{FF2B5EF4-FFF2-40B4-BE49-F238E27FC236}">
                <a16:creationId xmlns:a16="http://schemas.microsoft.com/office/drawing/2014/main" id="{E0077078-76E0-4438-812D-FEA9BA9C7C3E}"/>
              </a:ext>
            </a:extLst>
          </p:cNvPr>
          <p:cNvPicPr>
            <a:picLocks noChangeAspect="1"/>
          </p:cNvPicPr>
          <p:nvPr/>
        </p:nvPicPr>
        <p:blipFill>
          <a:blip r:embed="rId4"/>
          <a:stretch>
            <a:fillRect/>
          </a:stretch>
        </p:blipFill>
        <p:spPr>
          <a:xfrm>
            <a:off x="1268373" y="1667626"/>
            <a:ext cx="5863992" cy="752168"/>
          </a:xfrm>
          <a:prstGeom prst="rect">
            <a:avLst/>
          </a:prstGeom>
        </p:spPr>
      </p:pic>
    </p:spTree>
    <p:extLst>
      <p:ext uri="{BB962C8B-B14F-4D97-AF65-F5344CB8AC3E}">
        <p14:creationId xmlns:p14="http://schemas.microsoft.com/office/powerpoint/2010/main" val="2602077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zh-CN" altLang="en-US" dirty="0"/>
              <a:t>上游指令序列化 </a:t>
            </a:r>
          </a:p>
        </p:txBody>
      </p:sp>
      <p:sp>
        <p:nvSpPr>
          <p:cNvPr id="23" name="矩形 22">
            <a:extLst>
              <a:ext uri="{FF2B5EF4-FFF2-40B4-BE49-F238E27FC236}">
                <a16:creationId xmlns:a16="http://schemas.microsoft.com/office/drawing/2014/main" id="{EB6860DD-0C2E-43B2-963B-5A96D1FDD593}"/>
              </a:ext>
            </a:extLst>
          </p:cNvPr>
          <p:cNvSpPr/>
          <p:nvPr/>
        </p:nvSpPr>
        <p:spPr>
          <a:xfrm>
            <a:off x="248652" y="1998154"/>
            <a:ext cx="171465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rdtsc</a:t>
            </a:r>
            <a:r>
              <a:rPr lang="en-US" altLang="zh-CN" dirty="0"/>
              <a:t>=&gt;</a:t>
            </a:r>
            <a:r>
              <a:rPr lang="en-US" altLang="zh-CN" dirty="0" err="1"/>
              <a:t>rdx</a:t>
            </a:r>
            <a:r>
              <a:rPr lang="en-US" altLang="zh-CN" dirty="0"/>
              <a:t> </a:t>
            </a:r>
            <a:r>
              <a:rPr lang="en-US" altLang="zh-CN" dirty="0" err="1"/>
              <a:t>rax</a:t>
            </a:r>
            <a:endParaRPr lang="zh-CN" altLang="en-US" dirty="0"/>
          </a:p>
        </p:txBody>
      </p:sp>
      <p:sp>
        <p:nvSpPr>
          <p:cNvPr id="24" name="矩形 23">
            <a:extLst>
              <a:ext uri="{FF2B5EF4-FFF2-40B4-BE49-F238E27FC236}">
                <a16:creationId xmlns:a16="http://schemas.microsoft.com/office/drawing/2014/main" id="{838CBDD7-AC5A-42C3-880E-49B28C84E286}"/>
              </a:ext>
            </a:extLst>
          </p:cNvPr>
          <p:cNvSpPr/>
          <p:nvPr/>
        </p:nvSpPr>
        <p:spPr>
          <a:xfrm>
            <a:off x="248652" y="4067585"/>
            <a:ext cx="171465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rdtsc</a:t>
            </a:r>
            <a:r>
              <a:rPr lang="en-US" altLang="zh-CN" dirty="0"/>
              <a:t>=&gt;</a:t>
            </a:r>
            <a:r>
              <a:rPr lang="en-US" altLang="zh-CN" dirty="0" err="1"/>
              <a:t>rdx</a:t>
            </a:r>
            <a:r>
              <a:rPr lang="en-US" altLang="zh-CN" dirty="0"/>
              <a:t> </a:t>
            </a:r>
            <a:r>
              <a:rPr lang="en-US" altLang="zh-CN" dirty="0" err="1"/>
              <a:t>rax</a:t>
            </a:r>
            <a:endParaRPr lang="zh-CN" altLang="en-US" dirty="0"/>
          </a:p>
        </p:txBody>
      </p:sp>
      <p:sp>
        <p:nvSpPr>
          <p:cNvPr id="26" name="矩形 25">
            <a:extLst>
              <a:ext uri="{FF2B5EF4-FFF2-40B4-BE49-F238E27FC236}">
                <a16:creationId xmlns:a16="http://schemas.microsoft.com/office/drawing/2014/main" id="{0A34EE0F-1B6D-4411-AEDF-60264EEC2150}"/>
              </a:ext>
            </a:extLst>
          </p:cNvPr>
          <p:cNvSpPr/>
          <p:nvPr/>
        </p:nvSpPr>
        <p:spPr>
          <a:xfrm>
            <a:off x="2700009" y="1998153"/>
            <a:ext cx="171465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==&gt; write m1</a:t>
            </a:r>
            <a:endParaRPr lang="zh-CN" altLang="en-US" dirty="0"/>
          </a:p>
        </p:txBody>
      </p:sp>
      <p:sp>
        <p:nvSpPr>
          <p:cNvPr id="28" name="矩形 27">
            <a:extLst>
              <a:ext uri="{FF2B5EF4-FFF2-40B4-BE49-F238E27FC236}">
                <a16:creationId xmlns:a16="http://schemas.microsoft.com/office/drawing/2014/main" id="{C017C993-E071-403B-A5A2-AB3654EF1782}"/>
              </a:ext>
            </a:extLst>
          </p:cNvPr>
          <p:cNvSpPr/>
          <p:nvPr/>
        </p:nvSpPr>
        <p:spPr>
          <a:xfrm>
            <a:off x="2700009" y="4067585"/>
            <a:ext cx="171465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==&gt; write m2</a:t>
            </a:r>
            <a:endParaRPr lang="zh-CN" altLang="en-US" dirty="0"/>
          </a:p>
        </p:txBody>
      </p:sp>
      <p:sp>
        <p:nvSpPr>
          <p:cNvPr id="29" name="矩形 28">
            <a:extLst>
              <a:ext uri="{FF2B5EF4-FFF2-40B4-BE49-F238E27FC236}">
                <a16:creationId xmlns:a16="http://schemas.microsoft.com/office/drawing/2014/main" id="{321F7049-6CFC-4230-AEDE-ABEA10AC2F05}"/>
              </a:ext>
            </a:extLst>
          </p:cNvPr>
          <p:cNvSpPr/>
          <p:nvPr/>
        </p:nvSpPr>
        <p:spPr>
          <a:xfrm>
            <a:off x="248651" y="5108447"/>
            <a:ext cx="377774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cost= m2 - m1</a:t>
            </a:r>
            <a:endParaRPr lang="zh-CN" altLang="en-US" dirty="0"/>
          </a:p>
        </p:txBody>
      </p:sp>
      <p:sp>
        <p:nvSpPr>
          <p:cNvPr id="30" name="矩形 29">
            <a:extLst>
              <a:ext uri="{FF2B5EF4-FFF2-40B4-BE49-F238E27FC236}">
                <a16:creationId xmlns:a16="http://schemas.microsoft.com/office/drawing/2014/main" id="{CA3318EB-E71A-4B8A-A4BC-C476D2C6F755}"/>
              </a:ext>
            </a:extLst>
          </p:cNvPr>
          <p:cNvSpPr/>
          <p:nvPr/>
        </p:nvSpPr>
        <p:spPr>
          <a:xfrm>
            <a:off x="5253788" y="5108447"/>
            <a:ext cx="377774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write cost to memory</a:t>
            </a:r>
            <a:endParaRPr lang="zh-CN" altLang="en-US" dirty="0"/>
          </a:p>
        </p:txBody>
      </p:sp>
      <p:sp>
        <p:nvSpPr>
          <p:cNvPr id="31" name="矩形 30">
            <a:extLst>
              <a:ext uri="{FF2B5EF4-FFF2-40B4-BE49-F238E27FC236}">
                <a16:creationId xmlns:a16="http://schemas.microsoft.com/office/drawing/2014/main" id="{3EA0F5AE-1495-4761-AF63-E0933672B4B6}"/>
              </a:ext>
            </a:extLst>
          </p:cNvPr>
          <p:cNvSpPr/>
          <p:nvPr/>
        </p:nvSpPr>
        <p:spPr>
          <a:xfrm>
            <a:off x="5238671" y="1680384"/>
            <a:ext cx="5236823"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上游读</a:t>
            </a:r>
            <a:r>
              <a:rPr lang="en-US" altLang="zh-CN" dirty="0"/>
              <a:t>(</a:t>
            </a:r>
            <a:r>
              <a:rPr lang="zh-CN" altLang="en-US" dirty="0"/>
              <a:t>写</a:t>
            </a:r>
            <a:r>
              <a:rPr lang="en-US" altLang="zh-CN" dirty="0"/>
              <a:t>)</a:t>
            </a:r>
            <a:r>
              <a:rPr lang="zh-CN" altLang="en-US" dirty="0"/>
              <a:t>完成</a:t>
            </a:r>
            <a:r>
              <a:rPr lang="en-US" altLang="zh-CN" dirty="0"/>
              <a:t>, </a:t>
            </a:r>
            <a:r>
              <a:rPr lang="zh-CN" altLang="en-US" dirty="0"/>
              <a:t>读</a:t>
            </a:r>
            <a:r>
              <a:rPr lang="en-US" altLang="zh-CN" dirty="0"/>
              <a:t>(</a:t>
            </a:r>
            <a:r>
              <a:rPr lang="zh-CN" altLang="en-US" dirty="0"/>
              <a:t>写</a:t>
            </a:r>
            <a:r>
              <a:rPr lang="en-US" altLang="zh-CN" dirty="0"/>
              <a:t>)</a:t>
            </a:r>
            <a:r>
              <a:rPr lang="zh-CN" altLang="en-US" dirty="0"/>
              <a:t>乱序不允许跨越</a:t>
            </a:r>
            <a:r>
              <a:rPr lang="en-US" altLang="zh-CN" dirty="0"/>
              <a:t>fence</a:t>
            </a:r>
            <a:r>
              <a:rPr lang="zh-CN" altLang="en-US" dirty="0"/>
              <a:t>边界</a:t>
            </a:r>
          </a:p>
        </p:txBody>
      </p:sp>
      <p:sp>
        <p:nvSpPr>
          <p:cNvPr id="32" name="矩形 31">
            <a:extLst>
              <a:ext uri="{FF2B5EF4-FFF2-40B4-BE49-F238E27FC236}">
                <a16:creationId xmlns:a16="http://schemas.microsoft.com/office/drawing/2014/main" id="{CD7AC63E-E194-463D-A45C-2EF4C4458970}"/>
              </a:ext>
            </a:extLst>
          </p:cNvPr>
          <p:cNvSpPr/>
          <p:nvPr/>
        </p:nvSpPr>
        <p:spPr>
          <a:xfrm>
            <a:off x="5253788" y="2721246"/>
            <a:ext cx="5221706"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上游读</a:t>
            </a:r>
            <a:r>
              <a:rPr lang="en-US" altLang="zh-CN" dirty="0"/>
              <a:t>(</a:t>
            </a:r>
            <a:r>
              <a:rPr lang="zh-CN" altLang="en-US" dirty="0"/>
              <a:t>写</a:t>
            </a:r>
            <a:r>
              <a:rPr lang="en-US" altLang="zh-CN" dirty="0"/>
              <a:t>)</a:t>
            </a:r>
            <a:r>
              <a:rPr lang="zh-CN" altLang="en-US" dirty="0"/>
              <a:t>完成</a:t>
            </a:r>
            <a:r>
              <a:rPr lang="en-US" altLang="zh-CN" dirty="0"/>
              <a:t>, </a:t>
            </a:r>
            <a:r>
              <a:rPr lang="zh-CN" altLang="en-US" dirty="0"/>
              <a:t>读</a:t>
            </a:r>
            <a:r>
              <a:rPr lang="en-US" altLang="zh-CN" dirty="0"/>
              <a:t>(</a:t>
            </a:r>
            <a:r>
              <a:rPr lang="zh-CN" altLang="en-US" dirty="0"/>
              <a:t>写</a:t>
            </a:r>
            <a:r>
              <a:rPr lang="en-US" altLang="zh-CN" dirty="0"/>
              <a:t>)</a:t>
            </a:r>
            <a:r>
              <a:rPr lang="zh-CN" altLang="en-US" dirty="0"/>
              <a:t>乱序不允许跨越</a:t>
            </a:r>
            <a:r>
              <a:rPr lang="en-US" altLang="zh-CN" dirty="0"/>
              <a:t>fence</a:t>
            </a:r>
            <a:r>
              <a:rPr lang="zh-CN" altLang="en-US" dirty="0"/>
              <a:t>边界</a:t>
            </a:r>
          </a:p>
        </p:txBody>
      </p:sp>
      <p:sp>
        <p:nvSpPr>
          <p:cNvPr id="33" name="矩形 32">
            <a:extLst>
              <a:ext uri="{FF2B5EF4-FFF2-40B4-BE49-F238E27FC236}">
                <a16:creationId xmlns:a16="http://schemas.microsoft.com/office/drawing/2014/main" id="{CF2A8D92-5FA8-4D25-A72E-4B84AC533939}"/>
              </a:ext>
            </a:extLst>
          </p:cNvPr>
          <p:cNvSpPr/>
          <p:nvPr/>
        </p:nvSpPr>
        <p:spPr>
          <a:xfrm>
            <a:off x="5238672" y="3787082"/>
            <a:ext cx="5236822"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上游读</a:t>
            </a:r>
            <a:r>
              <a:rPr lang="en-US" altLang="zh-CN" dirty="0"/>
              <a:t>(</a:t>
            </a:r>
            <a:r>
              <a:rPr lang="zh-CN" altLang="en-US" dirty="0"/>
              <a:t>写</a:t>
            </a:r>
            <a:r>
              <a:rPr lang="en-US" altLang="zh-CN" dirty="0"/>
              <a:t>)</a:t>
            </a:r>
            <a:r>
              <a:rPr lang="zh-CN" altLang="en-US" dirty="0"/>
              <a:t>完成</a:t>
            </a:r>
            <a:r>
              <a:rPr lang="en-US" altLang="zh-CN" dirty="0"/>
              <a:t>, </a:t>
            </a:r>
            <a:r>
              <a:rPr lang="zh-CN" altLang="en-US" dirty="0"/>
              <a:t>读</a:t>
            </a:r>
            <a:r>
              <a:rPr lang="en-US" altLang="zh-CN" dirty="0"/>
              <a:t>(</a:t>
            </a:r>
            <a:r>
              <a:rPr lang="zh-CN" altLang="en-US" dirty="0"/>
              <a:t>写</a:t>
            </a:r>
            <a:r>
              <a:rPr lang="en-US" altLang="zh-CN" dirty="0"/>
              <a:t>)</a:t>
            </a:r>
            <a:r>
              <a:rPr lang="zh-CN" altLang="en-US" dirty="0"/>
              <a:t>乱序不允许跨越</a:t>
            </a:r>
            <a:r>
              <a:rPr lang="en-US" altLang="zh-CN" dirty="0"/>
              <a:t>fence</a:t>
            </a:r>
            <a:r>
              <a:rPr lang="zh-CN" altLang="en-US" dirty="0"/>
              <a:t>边界</a:t>
            </a:r>
          </a:p>
        </p:txBody>
      </p:sp>
      <p:sp>
        <p:nvSpPr>
          <p:cNvPr id="16" name="矩形 15">
            <a:extLst>
              <a:ext uri="{FF2B5EF4-FFF2-40B4-BE49-F238E27FC236}">
                <a16:creationId xmlns:a16="http://schemas.microsoft.com/office/drawing/2014/main" id="{C15FC22F-AA30-4DCF-B7A2-56675CF44D4A}"/>
              </a:ext>
            </a:extLst>
          </p:cNvPr>
          <p:cNvSpPr/>
          <p:nvPr/>
        </p:nvSpPr>
        <p:spPr>
          <a:xfrm>
            <a:off x="248652" y="3039016"/>
            <a:ext cx="171465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读</a:t>
            </a:r>
          </a:p>
        </p:txBody>
      </p:sp>
      <p:sp>
        <p:nvSpPr>
          <p:cNvPr id="17" name="矩形 16">
            <a:extLst>
              <a:ext uri="{FF2B5EF4-FFF2-40B4-BE49-F238E27FC236}">
                <a16:creationId xmlns:a16="http://schemas.microsoft.com/office/drawing/2014/main" id="{9F5AB5C0-DB2F-46FC-8072-970462075A79}"/>
              </a:ext>
            </a:extLst>
          </p:cNvPr>
          <p:cNvSpPr/>
          <p:nvPr/>
        </p:nvSpPr>
        <p:spPr>
          <a:xfrm>
            <a:off x="2700008" y="3039015"/>
            <a:ext cx="1714655"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写</a:t>
            </a:r>
          </a:p>
        </p:txBody>
      </p:sp>
    </p:spTree>
    <p:extLst>
      <p:ext uri="{BB962C8B-B14F-4D97-AF65-F5344CB8AC3E}">
        <p14:creationId xmlns:p14="http://schemas.microsoft.com/office/powerpoint/2010/main" val="158697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RDTSC</a:t>
            </a:r>
            <a:r>
              <a:rPr lang="zh-CN" altLang="en-US" dirty="0"/>
              <a:t>使用问题</a:t>
            </a:r>
            <a:r>
              <a:rPr lang="en-US" altLang="zh-CN" dirty="0"/>
              <a:t>: </a:t>
            </a:r>
            <a:r>
              <a:rPr lang="zh-CN" altLang="en-US" dirty="0"/>
              <a:t>扩展汇编实现</a:t>
            </a:r>
          </a:p>
        </p:txBody>
      </p:sp>
      <p:pic>
        <p:nvPicPr>
          <p:cNvPr id="12" name="图片 11">
            <a:extLst>
              <a:ext uri="{FF2B5EF4-FFF2-40B4-BE49-F238E27FC236}">
                <a16:creationId xmlns:a16="http://schemas.microsoft.com/office/drawing/2014/main" id="{924000D2-D2F6-4BBB-AF15-895E210D1E26}"/>
              </a:ext>
            </a:extLst>
          </p:cNvPr>
          <p:cNvPicPr>
            <a:picLocks noChangeAspect="1"/>
          </p:cNvPicPr>
          <p:nvPr/>
        </p:nvPicPr>
        <p:blipFill>
          <a:blip r:embed="rId3"/>
          <a:stretch>
            <a:fillRect/>
          </a:stretch>
        </p:blipFill>
        <p:spPr>
          <a:xfrm>
            <a:off x="597585" y="1009674"/>
            <a:ext cx="5009524" cy="2438095"/>
          </a:xfrm>
          <a:prstGeom prst="rect">
            <a:avLst/>
          </a:prstGeom>
        </p:spPr>
      </p:pic>
      <p:pic>
        <p:nvPicPr>
          <p:cNvPr id="6" name="图片 5">
            <a:extLst>
              <a:ext uri="{FF2B5EF4-FFF2-40B4-BE49-F238E27FC236}">
                <a16:creationId xmlns:a16="http://schemas.microsoft.com/office/drawing/2014/main" id="{87F64E7B-DFAF-4980-A838-5EA3B1484E3D}"/>
              </a:ext>
            </a:extLst>
          </p:cNvPr>
          <p:cNvPicPr>
            <a:picLocks noChangeAspect="1"/>
          </p:cNvPicPr>
          <p:nvPr/>
        </p:nvPicPr>
        <p:blipFill>
          <a:blip r:embed="rId4"/>
          <a:stretch>
            <a:fillRect/>
          </a:stretch>
        </p:blipFill>
        <p:spPr>
          <a:xfrm>
            <a:off x="6252160" y="1328042"/>
            <a:ext cx="5028648" cy="2100958"/>
          </a:xfrm>
          <a:prstGeom prst="rect">
            <a:avLst/>
          </a:prstGeom>
        </p:spPr>
      </p:pic>
      <p:pic>
        <p:nvPicPr>
          <p:cNvPr id="3" name="图片 2">
            <a:extLst>
              <a:ext uri="{FF2B5EF4-FFF2-40B4-BE49-F238E27FC236}">
                <a16:creationId xmlns:a16="http://schemas.microsoft.com/office/drawing/2014/main" id="{404F0978-8DB2-4BA6-9969-0015925BEB7B}"/>
              </a:ext>
            </a:extLst>
          </p:cNvPr>
          <p:cNvPicPr>
            <a:picLocks noChangeAspect="1"/>
          </p:cNvPicPr>
          <p:nvPr/>
        </p:nvPicPr>
        <p:blipFill>
          <a:blip r:embed="rId5"/>
          <a:stretch>
            <a:fillRect/>
          </a:stretch>
        </p:blipFill>
        <p:spPr>
          <a:xfrm>
            <a:off x="498231" y="3632625"/>
            <a:ext cx="5895238" cy="3161905"/>
          </a:xfrm>
          <a:prstGeom prst="rect">
            <a:avLst/>
          </a:prstGeom>
        </p:spPr>
      </p:pic>
      <p:pic>
        <p:nvPicPr>
          <p:cNvPr id="4" name="图片 3">
            <a:extLst>
              <a:ext uri="{FF2B5EF4-FFF2-40B4-BE49-F238E27FC236}">
                <a16:creationId xmlns:a16="http://schemas.microsoft.com/office/drawing/2014/main" id="{C3C66BBC-E318-407A-B491-BDC04D7EF16A}"/>
              </a:ext>
            </a:extLst>
          </p:cNvPr>
          <p:cNvPicPr>
            <a:picLocks noChangeAspect="1"/>
          </p:cNvPicPr>
          <p:nvPr/>
        </p:nvPicPr>
        <p:blipFill>
          <a:blip r:embed="rId6"/>
          <a:stretch>
            <a:fillRect/>
          </a:stretch>
        </p:blipFill>
        <p:spPr>
          <a:xfrm>
            <a:off x="7202904" y="3394622"/>
            <a:ext cx="3973103" cy="3399908"/>
          </a:xfrm>
          <a:prstGeom prst="rect">
            <a:avLst/>
          </a:prstGeom>
        </p:spPr>
      </p:pic>
    </p:spTree>
    <p:extLst>
      <p:ext uri="{BB962C8B-B14F-4D97-AF65-F5344CB8AC3E}">
        <p14:creationId xmlns:p14="http://schemas.microsoft.com/office/powerpoint/2010/main" val="272298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CE387F29-B56D-4F70-AEAF-999EAE5DEFC3}"/>
              </a:ext>
            </a:extLst>
          </p:cNvPr>
          <p:cNvPicPr>
            <a:picLocks noChangeAspect="1"/>
          </p:cNvPicPr>
          <p:nvPr/>
        </p:nvPicPr>
        <p:blipFill>
          <a:blip r:embed="rId3"/>
          <a:stretch>
            <a:fillRect/>
          </a:stretch>
        </p:blipFill>
        <p:spPr>
          <a:xfrm>
            <a:off x="636955" y="5784295"/>
            <a:ext cx="7247035" cy="429101"/>
          </a:xfrm>
          <a:prstGeom prst="rect">
            <a:avLst/>
          </a:prstGeom>
        </p:spPr>
      </p:pic>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计时器封装和单独使用</a:t>
            </a:r>
          </a:p>
        </p:txBody>
      </p:sp>
      <p:pic>
        <p:nvPicPr>
          <p:cNvPr id="8" name="图片 7">
            <a:extLst>
              <a:ext uri="{FF2B5EF4-FFF2-40B4-BE49-F238E27FC236}">
                <a16:creationId xmlns:a16="http://schemas.microsoft.com/office/drawing/2014/main" id="{C7AE42EB-BB28-43C1-BF81-23580C555CC4}"/>
              </a:ext>
            </a:extLst>
          </p:cNvPr>
          <p:cNvPicPr>
            <a:picLocks noChangeAspect="1"/>
          </p:cNvPicPr>
          <p:nvPr/>
        </p:nvPicPr>
        <p:blipFill>
          <a:blip r:embed="rId4"/>
          <a:stretch>
            <a:fillRect/>
          </a:stretch>
        </p:blipFill>
        <p:spPr>
          <a:xfrm>
            <a:off x="241557" y="824818"/>
            <a:ext cx="7961905" cy="4942857"/>
          </a:xfrm>
          <a:prstGeom prst="rect">
            <a:avLst/>
          </a:prstGeom>
        </p:spPr>
      </p:pic>
      <p:pic>
        <p:nvPicPr>
          <p:cNvPr id="11" name="图片 10">
            <a:extLst>
              <a:ext uri="{FF2B5EF4-FFF2-40B4-BE49-F238E27FC236}">
                <a16:creationId xmlns:a16="http://schemas.microsoft.com/office/drawing/2014/main" id="{3BEE018F-FEBB-4C4A-951B-2A12D26CBDF1}"/>
              </a:ext>
            </a:extLst>
          </p:cNvPr>
          <p:cNvPicPr>
            <a:picLocks noChangeAspect="1"/>
          </p:cNvPicPr>
          <p:nvPr/>
        </p:nvPicPr>
        <p:blipFill>
          <a:blip r:embed="rId5"/>
          <a:stretch>
            <a:fillRect/>
          </a:stretch>
        </p:blipFill>
        <p:spPr>
          <a:xfrm>
            <a:off x="717164" y="6116623"/>
            <a:ext cx="7310605" cy="429101"/>
          </a:xfrm>
          <a:prstGeom prst="rect">
            <a:avLst/>
          </a:prstGeom>
        </p:spPr>
      </p:pic>
      <p:pic>
        <p:nvPicPr>
          <p:cNvPr id="13" name="图片 12">
            <a:extLst>
              <a:ext uri="{FF2B5EF4-FFF2-40B4-BE49-F238E27FC236}">
                <a16:creationId xmlns:a16="http://schemas.microsoft.com/office/drawing/2014/main" id="{4DD712E5-5E06-41CC-8809-C7329FBF4C4D}"/>
              </a:ext>
            </a:extLst>
          </p:cNvPr>
          <p:cNvPicPr>
            <a:picLocks noChangeAspect="1"/>
          </p:cNvPicPr>
          <p:nvPr/>
        </p:nvPicPr>
        <p:blipFill>
          <a:blip r:embed="rId6"/>
          <a:stretch>
            <a:fillRect/>
          </a:stretch>
        </p:blipFill>
        <p:spPr>
          <a:xfrm>
            <a:off x="685081" y="6428899"/>
            <a:ext cx="7437747" cy="429101"/>
          </a:xfrm>
          <a:prstGeom prst="rect">
            <a:avLst/>
          </a:prstGeom>
        </p:spPr>
      </p:pic>
    </p:spTree>
    <p:extLst>
      <p:ext uri="{BB962C8B-B14F-4D97-AF65-F5344CB8AC3E}">
        <p14:creationId xmlns:p14="http://schemas.microsoft.com/office/powerpoint/2010/main" val="26197150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计录器实现</a:t>
            </a:r>
          </a:p>
        </p:txBody>
      </p:sp>
      <p:sp>
        <p:nvSpPr>
          <p:cNvPr id="5" name="矩形 4">
            <a:extLst>
              <a:ext uri="{FF2B5EF4-FFF2-40B4-BE49-F238E27FC236}">
                <a16:creationId xmlns:a16="http://schemas.microsoft.com/office/drawing/2014/main" id="{183AC62D-910B-497E-93A6-A02C562793C9}"/>
              </a:ext>
            </a:extLst>
          </p:cNvPr>
          <p:cNvSpPr/>
          <p:nvPr/>
        </p:nvSpPr>
        <p:spPr>
          <a:xfrm>
            <a:off x="498231" y="1020327"/>
            <a:ext cx="1827874" cy="7557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开始计数</a:t>
            </a:r>
          </a:p>
        </p:txBody>
      </p:sp>
      <p:sp>
        <p:nvSpPr>
          <p:cNvPr id="22" name="矩形 21">
            <a:extLst>
              <a:ext uri="{FF2B5EF4-FFF2-40B4-BE49-F238E27FC236}">
                <a16:creationId xmlns:a16="http://schemas.microsoft.com/office/drawing/2014/main" id="{AAE16281-3119-4616-98A7-C8ED3EC59F7A}"/>
              </a:ext>
            </a:extLst>
          </p:cNvPr>
          <p:cNvSpPr/>
          <p:nvPr/>
        </p:nvSpPr>
        <p:spPr>
          <a:xfrm>
            <a:off x="514273" y="2319863"/>
            <a:ext cx="1811832" cy="75579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结束计数</a:t>
            </a:r>
          </a:p>
        </p:txBody>
      </p:sp>
      <p:cxnSp>
        <p:nvCxnSpPr>
          <p:cNvPr id="24" name="连接符: 肘形 23">
            <a:extLst>
              <a:ext uri="{FF2B5EF4-FFF2-40B4-BE49-F238E27FC236}">
                <a16:creationId xmlns:a16="http://schemas.microsoft.com/office/drawing/2014/main" id="{E9C2564A-DD86-4D7C-811B-8E4BC88F184E}"/>
              </a:ext>
            </a:extLst>
          </p:cNvPr>
          <p:cNvCxnSpPr>
            <a:cxnSpLocks/>
            <a:stCxn id="5" idx="2"/>
            <a:endCxn id="22" idx="0"/>
          </p:cNvCxnSpPr>
          <p:nvPr/>
        </p:nvCxnSpPr>
        <p:spPr>
          <a:xfrm rot="16200000" flipH="1">
            <a:off x="1144305" y="2043979"/>
            <a:ext cx="543746" cy="80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246F4838-7F18-4ECD-8951-078C906DC8BB}"/>
              </a:ext>
            </a:extLst>
          </p:cNvPr>
          <p:cNvSpPr/>
          <p:nvPr/>
        </p:nvSpPr>
        <p:spPr>
          <a:xfrm>
            <a:off x="3805294" y="1398222"/>
            <a:ext cx="2149642" cy="3671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slot 1</a:t>
            </a:r>
            <a:endParaRPr lang="zh-CN" altLang="en-US" dirty="0"/>
          </a:p>
        </p:txBody>
      </p:sp>
      <p:sp>
        <p:nvSpPr>
          <p:cNvPr id="30" name="矩形 29">
            <a:extLst>
              <a:ext uri="{FF2B5EF4-FFF2-40B4-BE49-F238E27FC236}">
                <a16:creationId xmlns:a16="http://schemas.microsoft.com/office/drawing/2014/main" id="{275F7EF8-FD87-488E-9EE1-7319F882465C}"/>
              </a:ext>
            </a:extLst>
          </p:cNvPr>
          <p:cNvSpPr/>
          <p:nvPr/>
        </p:nvSpPr>
        <p:spPr>
          <a:xfrm>
            <a:off x="3805294" y="1776117"/>
            <a:ext cx="2149642" cy="3671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slot 2</a:t>
            </a:r>
            <a:endParaRPr lang="zh-CN" altLang="en-US" dirty="0"/>
          </a:p>
        </p:txBody>
      </p:sp>
      <p:sp>
        <p:nvSpPr>
          <p:cNvPr id="31" name="矩形 30">
            <a:extLst>
              <a:ext uri="{FF2B5EF4-FFF2-40B4-BE49-F238E27FC236}">
                <a16:creationId xmlns:a16="http://schemas.microsoft.com/office/drawing/2014/main" id="{01E43E8C-F537-4C9D-8B64-739F14600A80}"/>
              </a:ext>
            </a:extLst>
          </p:cNvPr>
          <p:cNvSpPr/>
          <p:nvPr/>
        </p:nvSpPr>
        <p:spPr>
          <a:xfrm>
            <a:off x="3805294" y="2154012"/>
            <a:ext cx="2149642" cy="3671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slot 3</a:t>
            </a:r>
            <a:endParaRPr lang="zh-CN" altLang="en-US" dirty="0"/>
          </a:p>
        </p:txBody>
      </p:sp>
      <p:sp>
        <p:nvSpPr>
          <p:cNvPr id="32" name="矩形 31">
            <a:extLst>
              <a:ext uri="{FF2B5EF4-FFF2-40B4-BE49-F238E27FC236}">
                <a16:creationId xmlns:a16="http://schemas.microsoft.com/office/drawing/2014/main" id="{FCEB7B8F-164F-4EC4-BD48-456222C2AE8E}"/>
              </a:ext>
            </a:extLst>
          </p:cNvPr>
          <p:cNvSpPr/>
          <p:nvPr/>
        </p:nvSpPr>
        <p:spPr>
          <a:xfrm>
            <a:off x="3805294" y="2521169"/>
            <a:ext cx="2149642" cy="3671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slot …</a:t>
            </a:r>
            <a:endParaRPr lang="zh-CN" altLang="en-US" dirty="0"/>
          </a:p>
        </p:txBody>
      </p:sp>
      <p:sp>
        <p:nvSpPr>
          <p:cNvPr id="35" name="矩形 34">
            <a:extLst>
              <a:ext uri="{FF2B5EF4-FFF2-40B4-BE49-F238E27FC236}">
                <a16:creationId xmlns:a16="http://schemas.microsoft.com/office/drawing/2014/main" id="{6C843C05-B727-4D41-98B2-86A564AE505F}"/>
              </a:ext>
            </a:extLst>
          </p:cNvPr>
          <p:cNvSpPr/>
          <p:nvPr/>
        </p:nvSpPr>
        <p:spPr>
          <a:xfrm>
            <a:off x="7450170" y="1284117"/>
            <a:ext cx="3345705" cy="481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序列化输出</a:t>
            </a:r>
          </a:p>
        </p:txBody>
      </p:sp>
      <p:sp>
        <p:nvSpPr>
          <p:cNvPr id="36" name="矩形 35">
            <a:extLst>
              <a:ext uri="{FF2B5EF4-FFF2-40B4-BE49-F238E27FC236}">
                <a16:creationId xmlns:a16="http://schemas.microsoft.com/office/drawing/2014/main" id="{CE0F33F4-144F-4498-922A-4BBABA4F61AB}"/>
              </a:ext>
            </a:extLst>
          </p:cNvPr>
          <p:cNvSpPr/>
          <p:nvPr/>
        </p:nvSpPr>
        <p:spPr>
          <a:xfrm>
            <a:off x="7450169" y="2056788"/>
            <a:ext cx="3345705" cy="481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遍历有效记录</a:t>
            </a:r>
          </a:p>
        </p:txBody>
      </p:sp>
      <p:sp>
        <p:nvSpPr>
          <p:cNvPr id="37" name="矩形 36">
            <a:extLst>
              <a:ext uri="{FF2B5EF4-FFF2-40B4-BE49-F238E27FC236}">
                <a16:creationId xmlns:a16="http://schemas.microsoft.com/office/drawing/2014/main" id="{8EA4CB04-758B-4443-A4FC-DE9346A28EC7}"/>
              </a:ext>
            </a:extLst>
          </p:cNvPr>
          <p:cNvSpPr/>
          <p:nvPr/>
        </p:nvSpPr>
        <p:spPr>
          <a:xfrm>
            <a:off x="7450170" y="4391942"/>
            <a:ext cx="3345705" cy="481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生成更多的统计信息</a:t>
            </a:r>
          </a:p>
        </p:txBody>
      </p:sp>
      <p:sp>
        <p:nvSpPr>
          <p:cNvPr id="38" name="矩形 37">
            <a:extLst>
              <a:ext uri="{FF2B5EF4-FFF2-40B4-BE49-F238E27FC236}">
                <a16:creationId xmlns:a16="http://schemas.microsoft.com/office/drawing/2014/main" id="{C17D301F-6099-4881-B630-553DA380697E}"/>
              </a:ext>
            </a:extLst>
          </p:cNvPr>
          <p:cNvSpPr/>
          <p:nvPr/>
        </p:nvSpPr>
        <p:spPr>
          <a:xfrm>
            <a:off x="7450167" y="2829459"/>
            <a:ext cx="3345705" cy="481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构建父子显示层级关系</a:t>
            </a:r>
          </a:p>
        </p:txBody>
      </p:sp>
      <p:sp>
        <p:nvSpPr>
          <p:cNvPr id="39" name="矩形 38">
            <a:extLst>
              <a:ext uri="{FF2B5EF4-FFF2-40B4-BE49-F238E27FC236}">
                <a16:creationId xmlns:a16="http://schemas.microsoft.com/office/drawing/2014/main" id="{0571ED8B-5417-4E35-B96A-E51D77488E96}"/>
              </a:ext>
            </a:extLst>
          </p:cNvPr>
          <p:cNvSpPr/>
          <p:nvPr/>
        </p:nvSpPr>
        <p:spPr>
          <a:xfrm>
            <a:off x="7450166" y="3619271"/>
            <a:ext cx="3345705" cy="481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逐层序列化计数单位</a:t>
            </a:r>
          </a:p>
        </p:txBody>
      </p:sp>
      <p:sp>
        <p:nvSpPr>
          <p:cNvPr id="40" name="矩形 39">
            <a:extLst>
              <a:ext uri="{FF2B5EF4-FFF2-40B4-BE49-F238E27FC236}">
                <a16:creationId xmlns:a16="http://schemas.microsoft.com/office/drawing/2014/main" id="{D9BB39D2-4BE5-4399-A553-EA15507A1463}"/>
              </a:ext>
            </a:extLst>
          </p:cNvPr>
          <p:cNvSpPr/>
          <p:nvPr/>
        </p:nvSpPr>
        <p:spPr>
          <a:xfrm>
            <a:off x="7450165" y="5164613"/>
            <a:ext cx="3345705" cy="481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序列化流到日志</a:t>
            </a:r>
          </a:p>
        </p:txBody>
      </p:sp>
      <p:sp>
        <p:nvSpPr>
          <p:cNvPr id="41" name="矩形 40">
            <a:extLst>
              <a:ext uri="{FF2B5EF4-FFF2-40B4-BE49-F238E27FC236}">
                <a16:creationId xmlns:a16="http://schemas.microsoft.com/office/drawing/2014/main" id="{8CAA8C22-46A5-4E0D-B002-966059629375}"/>
              </a:ext>
            </a:extLst>
          </p:cNvPr>
          <p:cNvSpPr/>
          <p:nvPr/>
        </p:nvSpPr>
        <p:spPr>
          <a:xfrm>
            <a:off x="1396126" y="4079320"/>
            <a:ext cx="3345705" cy="481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遍历有效记录</a:t>
            </a:r>
          </a:p>
        </p:txBody>
      </p:sp>
      <p:sp>
        <p:nvSpPr>
          <p:cNvPr id="42" name="矩形 41">
            <a:extLst>
              <a:ext uri="{FF2B5EF4-FFF2-40B4-BE49-F238E27FC236}">
                <a16:creationId xmlns:a16="http://schemas.microsoft.com/office/drawing/2014/main" id="{44A8F7FF-3B83-4040-8131-93D2AE272766}"/>
              </a:ext>
            </a:extLst>
          </p:cNvPr>
          <p:cNvSpPr/>
          <p:nvPr/>
        </p:nvSpPr>
        <p:spPr>
          <a:xfrm>
            <a:off x="1396125" y="4851991"/>
            <a:ext cx="3345705" cy="481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构建父子数据合并层级</a:t>
            </a:r>
          </a:p>
        </p:txBody>
      </p:sp>
      <p:sp>
        <p:nvSpPr>
          <p:cNvPr id="44" name="矩形 43">
            <a:extLst>
              <a:ext uri="{FF2B5EF4-FFF2-40B4-BE49-F238E27FC236}">
                <a16:creationId xmlns:a16="http://schemas.microsoft.com/office/drawing/2014/main" id="{057F6DC1-1FC7-4DAB-9099-48E0B1C430A7}"/>
              </a:ext>
            </a:extLst>
          </p:cNvPr>
          <p:cNvSpPr/>
          <p:nvPr/>
        </p:nvSpPr>
        <p:spPr>
          <a:xfrm>
            <a:off x="1396123" y="5624662"/>
            <a:ext cx="3345705" cy="4812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逐层滚动合并统计数据</a:t>
            </a:r>
          </a:p>
        </p:txBody>
      </p:sp>
      <p:sp>
        <p:nvSpPr>
          <p:cNvPr id="47" name="箭头: 右 46">
            <a:extLst>
              <a:ext uri="{FF2B5EF4-FFF2-40B4-BE49-F238E27FC236}">
                <a16:creationId xmlns:a16="http://schemas.microsoft.com/office/drawing/2014/main" id="{8711EB8E-F791-4700-8183-D3F8FDA59867}"/>
              </a:ext>
            </a:extLst>
          </p:cNvPr>
          <p:cNvSpPr/>
          <p:nvPr/>
        </p:nvSpPr>
        <p:spPr>
          <a:xfrm>
            <a:off x="2646947" y="1909011"/>
            <a:ext cx="826164" cy="48126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48" name="箭头: 右 47">
            <a:extLst>
              <a:ext uri="{FF2B5EF4-FFF2-40B4-BE49-F238E27FC236}">
                <a16:creationId xmlns:a16="http://schemas.microsoft.com/office/drawing/2014/main" id="{3E7F0253-497E-491D-AA0F-101B7095FC75}"/>
              </a:ext>
            </a:extLst>
          </p:cNvPr>
          <p:cNvSpPr/>
          <p:nvPr/>
        </p:nvSpPr>
        <p:spPr>
          <a:xfrm>
            <a:off x="6303163" y="1894780"/>
            <a:ext cx="826164" cy="48126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105865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自定义分类分层的调用树实现</a:t>
            </a:r>
          </a:p>
        </p:txBody>
      </p:sp>
      <p:pic>
        <p:nvPicPr>
          <p:cNvPr id="6" name="图片 5">
            <a:extLst>
              <a:ext uri="{FF2B5EF4-FFF2-40B4-BE49-F238E27FC236}">
                <a16:creationId xmlns:a16="http://schemas.microsoft.com/office/drawing/2014/main" id="{22F5685D-234E-4FA2-AB6D-3405669DAE2E}"/>
              </a:ext>
            </a:extLst>
          </p:cNvPr>
          <p:cNvPicPr>
            <a:picLocks noChangeAspect="1"/>
          </p:cNvPicPr>
          <p:nvPr/>
        </p:nvPicPr>
        <p:blipFill>
          <a:blip r:embed="rId3"/>
          <a:stretch>
            <a:fillRect/>
          </a:stretch>
        </p:blipFill>
        <p:spPr>
          <a:xfrm>
            <a:off x="1289836" y="1325215"/>
            <a:ext cx="8672311" cy="4541552"/>
          </a:xfrm>
          <a:prstGeom prst="rect">
            <a:avLst/>
          </a:prstGeom>
        </p:spPr>
      </p:pic>
    </p:spTree>
    <p:extLst>
      <p:ext uri="{BB962C8B-B14F-4D97-AF65-F5344CB8AC3E}">
        <p14:creationId xmlns:p14="http://schemas.microsoft.com/office/powerpoint/2010/main" val="1077566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自定义分类分层的调用树实现</a:t>
            </a:r>
          </a:p>
        </p:txBody>
      </p:sp>
      <p:pic>
        <p:nvPicPr>
          <p:cNvPr id="3" name="图片 2">
            <a:extLst>
              <a:ext uri="{FF2B5EF4-FFF2-40B4-BE49-F238E27FC236}">
                <a16:creationId xmlns:a16="http://schemas.microsoft.com/office/drawing/2014/main" id="{B073B230-6A84-4DD8-A1F8-E7FED4402B74}"/>
              </a:ext>
            </a:extLst>
          </p:cNvPr>
          <p:cNvPicPr>
            <a:picLocks noChangeAspect="1"/>
          </p:cNvPicPr>
          <p:nvPr/>
        </p:nvPicPr>
        <p:blipFill>
          <a:blip r:embed="rId3"/>
          <a:stretch>
            <a:fillRect/>
          </a:stretch>
        </p:blipFill>
        <p:spPr>
          <a:xfrm>
            <a:off x="676723" y="1303864"/>
            <a:ext cx="10410617" cy="4487335"/>
          </a:xfrm>
          <a:prstGeom prst="rect">
            <a:avLst/>
          </a:prstGeom>
        </p:spPr>
      </p:pic>
    </p:spTree>
    <p:extLst>
      <p:ext uri="{BB962C8B-B14F-4D97-AF65-F5344CB8AC3E}">
        <p14:creationId xmlns:p14="http://schemas.microsoft.com/office/powerpoint/2010/main" val="2207837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自定义分类分层的数据汇总图实现</a:t>
            </a:r>
          </a:p>
        </p:txBody>
      </p:sp>
      <p:pic>
        <p:nvPicPr>
          <p:cNvPr id="3" name="图片 2">
            <a:extLst>
              <a:ext uri="{FF2B5EF4-FFF2-40B4-BE49-F238E27FC236}">
                <a16:creationId xmlns:a16="http://schemas.microsoft.com/office/drawing/2014/main" id="{51791815-0EC1-4F38-98B3-A3AC64582DC3}"/>
              </a:ext>
            </a:extLst>
          </p:cNvPr>
          <p:cNvPicPr>
            <a:picLocks noChangeAspect="1"/>
          </p:cNvPicPr>
          <p:nvPr/>
        </p:nvPicPr>
        <p:blipFill>
          <a:blip r:embed="rId3"/>
          <a:stretch>
            <a:fillRect/>
          </a:stretch>
        </p:blipFill>
        <p:spPr>
          <a:xfrm>
            <a:off x="916378" y="1164324"/>
            <a:ext cx="9494947" cy="5378090"/>
          </a:xfrm>
          <a:prstGeom prst="rect">
            <a:avLst/>
          </a:prstGeom>
        </p:spPr>
      </p:pic>
    </p:spTree>
    <p:extLst>
      <p:ext uri="{BB962C8B-B14F-4D97-AF65-F5344CB8AC3E}">
        <p14:creationId xmlns:p14="http://schemas.microsoft.com/office/powerpoint/2010/main" val="2804445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自定义分类分层的数据汇总图实现</a:t>
            </a:r>
          </a:p>
        </p:txBody>
      </p:sp>
      <p:pic>
        <p:nvPicPr>
          <p:cNvPr id="4" name="图片 3">
            <a:extLst>
              <a:ext uri="{FF2B5EF4-FFF2-40B4-BE49-F238E27FC236}">
                <a16:creationId xmlns:a16="http://schemas.microsoft.com/office/drawing/2014/main" id="{FDE4688A-29EC-4688-BC80-317408060AF1}"/>
              </a:ext>
            </a:extLst>
          </p:cNvPr>
          <p:cNvPicPr>
            <a:picLocks noChangeAspect="1"/>
          </p:cNvPicPr>
          <p:nvPr/>
        </p:nvPicPr>
        <p:blipFill>
          <a:blip r:embed="rId3"/>
          <a:stretch>
            <a:fillRect/>
          </a:stretch>
        </p:blipFill>
        <p:spPr>
          <a:xfrm>
            <a:off x="1514471" y="1225482"/>
            <a:ext cx="5592183" cy="5443239"/>
          </a:xfrm>
          <a:prstGeom prst="rect">
            <a:avLst/>
          </a:prstGeom>
        </p:spPr>
      </p:pic>
    </p:spTree>
    <p:extLst>
      <p:ext uri="{BB962C8B-B14F-4D97-AF65-F5344CB8AC3E}">
        <p14:creationId xmlns:p14="http://schemas.microsoft.com/office/powerpoint/2010/main" val="3435164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树形结构的顺序合并</a:t>
            </a:r>
          </a:p>
        </p:txBody>
      </p:sp>
      <p:pic>
        <p:nvPicPr>
          <p:cNvPr id="3" name="图片 2">
            <a:extLst>
              <a:ext uri="{FF2B5EF4-FFF2-40B4-BE49-F238E27FC236}">
                <a16:creationId xmlns:a16="http://schemas.microsoft.com/office/drawing/2014/main" id="{2E12FCD9-630F-4814-B1F0-1B0B586DD815}"/>
              </a:ext>
            </a:extLst>
          </p:cNvPr>
          <p:cNvPicPr>
            <a:picLocks noChangeAspect="1"/>
          </p:cNvPicPr>
          <p:nvPr/>
        </p:nvPicPr>
        <p:blipFill>
          <a:blip r:embed="rId3"/>
          <a:stretch>
            <a:fillRect/>
          </a:stretch>
        </p:blipFill>
        <p:spPr>
          <a:xfrm>
            <a:off x="112295" y="1133510"/>
            <a:ext cx="12192000" cy="2124294"/>
          </a:xfrm>
          <a:prstGeom prst="rect">
            <a:avLst/>
          </a:prstGeom>
        </p:spPr>
      </p:pic>
    </p:spTree>
    <p:extLst>
      <p:ext uri="{BB962C8B-B14F-4D97-AF65-F5344CB8AC3E}">
        <p14:creationId xmlns:p14="http://schemas.microsoft.com/office/powerpoint/2010/main" val="42238125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平滑统计</a:t>
            </a:r>
          </a:p>
        </p:txBody>
      </p:sp>
      <p:pic>
        <p:nvPicPr>
          <p:cNvPr id="3" name="图片 2">
            <a:extLst>
              <a:ext uri="{FF2B5EF4-FFF2-40B4-BE49-F238E27FC236}">
                <a16:creationId xmlns:a16="http://schemas.microsoft.com/office/drawing/2014/main" id="{76B3B395-2F63-4190-95C8-59AA9B155AD4}"/>
              </a:ext>
            </a:extLst>
          </p:cNvPr>
          <p:cNvPicPr>
            <a:picLocks noChangeAspect="1"/>
          </p:cNvPicPr>
          <p:nvPr/>
        </p:nvPicPr>
        <p:blipFill>
          <a:blip r:embed="rId3"/>
          <a:stretch>
            <a:fillRect/>
          </a:stretch>
        </p:blipFill>
        <p:spPr>
          <a:xfrm>
            <a:off x="718991" y="1316984"/>
            <a:ext cx="9213547" cy="832658"/>
          </a:xfrm>
          <a:prstGeom prst="rect">
            <a:avLst/>
          </a:prstGeom>
        </p:spPr>
      </p:pic>
    </p:spTree>
    <p:extLst>
      <p:ext uri="{BB962C8B-B14F-4D97-AF65-F5344CB8AC3E}">
        <p14:creationId xmlns:p14="http://schemas.microsoft.com/office/powerpoint/2010/main" val="642454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平滑统计</a:t>
            </a:r>
          </a:p>
        </p:txBody>
      </p:sp>
      <p:pic>
        <p:nvPicPr>
          <p:cNvPr id="3" name="图片 2">
            <a:extLst>
              <a:ext uri="{FF2B5EF4-FFF2-40B4-BE49-F238E27FC236}">
                <a16:creationId xmlns:a16="http://schemas.microsoft.com/office/drawing/2014/main" id="{76B3B395-2F63-4190-95C8-59AA9B155AD4}"/>
              </a:ext>
            </a:extLst>
          </p:cNvPr>
          <p:cNvPicPr>
            <a:picLocks noChangeAspect="1"/>
          </p:cNvPicPr>
          <p:nvPr/>
        </p:nvPicPr>
        <p:blipFill>
          <a:blip r:embed="rId3"/>
          <a:stretch>
            <a:fillRect/>
          </a:stretch>
        </p:blipFill>
        <p:spPr>
          <a:xfrm>
            <a:off x="718991" y="1316984"/>
            <a:ext cx="9213547" cy="832658"/>
          </a:xfrm>
          <a:prstGeom prst="rect">
            <a:avLst/>
          </a:prstGeom>
        </p:spPr>
      </p:pic>
      <p:pic>
        <p:nvPicPr>
          <p:cNvPr id="6" name="图片 5">
            <a:extLst>
              <a:ext uri="{FF2B5EF4-FFF2-40B4-BE49-F238E27FC236}">
                <a16:creationId xmlns:a16="http://schemas.microsoft.com/office/drawing/2014/main" id="{0C799920-58D1-4743-999C-D6D8AAE432BA}"/>
              </a:ext>
            </a:extLst>
          </p:cNvPr>
          <p:cNvPicPr>
            <a:picLocks noChangeAspect="1"/>
          </p:cNvPicPr>
          <p:nvPr/>
        </p:nvPicPr>
        <p:blipFill>
          <a:blip r:embed="rId4"/>
          <a:stretch>
            <a:fillRect/>
          </a:stretch>
        </p:blipFill>
        <p:spPr>
          <a:xfrm>
            <a:off x="488570" y="2251494"/>
            <a:ext cx="11214859" cy="832658"/>
          </a:xfrm>
          <a:prstGeom prst="rect">
            <a:avLst/>
          </a:prstGeom>
        </p:spPr>
      </p:pic>
      <p:pic>
        <p:nvPicPr>
          <p:cNvPr id="7" name="图片 6">
            <a:extLst>
              <a:ext uri="{FF2B5EF4-FFF2-40B4-BE49-F238E27FC236}">
                <a16:creationId xmlns:a16="http://schemas.microsoft.com/office/drawing/2014/main" id="{93998DF5-FF68-4312-9B6E-6D32577694C7}"/>
              </a:ext>
            </a:extLst>
          </p:cNvPr>
          <p:cNvPicPr>
            <a:picLocks noChangeAspect="1"/>
          </p:cNvPicPr>
          <p:nvPr/>
        </p:nvPicPr>
        <p:blipFill>
          <a:blip r:embed="rId5"/>
          <a:stretch>
            <a:fillRect/>
          </a:stretch>
        </p:blipFill>
        <p:spPr>
          <a:xfrm>
            <a:off x="5756031" y="3773849"/>
            <a:ext cx="5933333" cy="2380952"/>
          </a:xfrm>
          <a:prstGeom prst="rect">
            <a:avLst/>
          </a:prstGeom>
        </p:spPr>
      </p:pic>
      <p:pic>
        <p:nvPicPr>
          <p:cNvPr id="8" name="图片 7">
            <a:extLst>
              <a:ext uri="{FF2B5EF4-FFF2-40B4-BE49-F238E27FC236}">
                <a16:creationId xmlns:a16="http://schemas.microsoft.com/office/drawing/2014/main" id="{AF9FEC1A-727A-474B-82C9-C5198E9E0E1A}"/>
              </a:ext>
            </a:extLst>
          </p:cNvPr>
          <p:cNvPicPr>
            <a:picLocks noChangeAspect="1"/>
          </p:cNvPicPr>
          <p:nvPr/>
        </p:nvPicPr>
        <p:blipFill>
          <a:blip r:embed="rId6"/>
          <a:stretch>
            <a:fillRect/>
          </a:stretch>
        </p:blipFill>
        <p:spPr>
          <a:xfrm>
            <a:off x="276299" y="3817206"/>
            <a:ext cx="5322396" cy="1767622"/>
          </a:xfrm>
          <a:prstGeom prst="rect">
            <a:avLst/>
          </a:prstGeom>
        </p:spPr>
      </p:pic>
      <p:pic>
        <p:nvPicPr>
          <p:cNvPr id="9" name="图片 8">
            <a:extLst>
              <a:ext uri="{FF2B5EF4-FFF2-40B4-BE49-F238E27FC236}">
                <a16:creationId xmlns:a16="http://schemas.microsoft.com/office/drawing/2014/main" id="{084B5BBC-C9DB-4AB4-9B7C-23652F11FD8A}"/>
              </a:ext>
            </a:extLst>
          </p:cNvPr>
          <p:cNvPicPr>
            <a:picLocks noChangeAspect="1"/>
          </p:cNvPicPr>
          <p:nvPr/>
        </p:nvPicPr>
        <p:blipFill>
          <a:blip r:embed="rId7"/>
          <a:stretch>
            <a:fillRect/>
          </a:stretch>
        </p:blipFill>
        <p:spPr>
          <a:xfrm>
            <a:off x="276299" y="5729167"/>
            <a:ext cx="2000000" cy="904762"/>
          </a:xfrm>
          <a:prstGeom prst="rect">
            <a:avLst/>
          </a:prstGeom>
        </p:spPr>
      </p:pic>
    </p:spTree>
    <p:extLst>
      <p:ext uri="{BB962C8B-B14F-4D97-AF65-F5344CB8AC3E}">
        <p14:creationId xmlns:p14="http://schemas.microsoft.com/office/powerpoint/2010/main" val="3272456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分段统计</a:t>
            </a:r>
          </a:p>
        </p:txBody>
      </p:sp>
      <p:sp>
        <p:nvSpPr>
          <p:cNvPr id="3" name="矩形 2">
            <a:extLst>
              <a:ext uri="{FF2B5EF4-FFF2-40B4-BE49-F238E27FC236}">
                <a16:creationId xmlns:a16="http://schemas.microsoft.com/office/drawing/2014/main" id="{F1BF6983-26FF-4C75-9BE9-84AC8A85C514}"/>
              </a:ext>
            </a:extLst>
          </p:cNvPr>
          <p:cNvSpPr/>
          <p:nvPr/>
        </p:nvSpPr>
        <p:spPr>
          <a:xfrm>
            <a:off x="498231" y="1507957"/>
            <a:ext cx="5918611" cy="8502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对于多次统计的记录添加分段统计标记 定时批量清除</a:t>
            </a:r>
          </a:p>
        </p:txBody>
      </p:sp>
    </p:spTree>
    <p:extLst>
      <p:ext uri="{BB962C8B-B14F-4D97-AF65-F5344CB8AC3E}">
        <p14:creationId xmlns:p14="http://schemas.microsoft.com/office/powerpoint/2010/main" val="1843367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平均单次调用和总量调用</a:t>
            </a:r>
          </a:p>
        </p:txBody>
      </p:sp>
      <p:sp>
        <p:nvSpPr>
          <p:cNvPr id="3" name="矩形 2">
            <a:extLst>
              <a:ext uri="{FF2B5EF4-FFF2-40B4-BE49-F238E27FC236}">
                <a16:creationId xmlns:a16="http://schemas.microsoft.com/office/drawing/2014/main" id="{F1BF6983-26FF-4C75-9BE9-84AC8A85C514}"/>
              </a:ext>
            </a:extLst>
          </p:cNvPr>
          <p:cNvSpPr/>
          <p:nvPr/>
        </p:nvSpPr>
        <p:spPr>
          <a:xfrm>
            <a:off x="498231" y="1251283"/>
            <a:ext cx="9656422" cy="8502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平均单次调用消耗和总调用次数 用于分析一段代码的调用频率和性能是否在预期内</a:t>
            </a:r>
          </a:p>
        </p:txBody>
      </p:sp>
      <p:sp>
        <p:nvSpPr>
          <p:cNvPr id="4" name="矩形 3">
            <a:extLst>
              <a:ext uri="{FF2B5EF4-FFF2-40B4-BE49-F238E27FC236}">
                <a16:creationId xmlns:a16="http://schemas.microsoft.com/office/drawing/2014/main" id="{73383A96-99C1-417E-8CDF-D11212689DF9}"/>
              </a:ext>
            </a:extLst>
          </p:cNvPr>
          <p:cNvSpPr/>
          <p:nvPr/>
        </p:nvSpPr>
        <p:spPr>
          <a:xfrm>
            <a:off x="498231" y="2359538"/>
            <a:ext cx="9656422" cy="8502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一段时间内的总量调用通常用来判断系统整体的负载情况和各个子模块的负载占比</a:t>
            </a:r>
          </a:p>
        </p:txBody>
      </p:sp>
      <p:pic>
        <p:nvPicPr>
          <p:cNvPr id="7" name="图片 6">
            <a:extLst>
              <a:ext uri="{FF2B5EF4-FFF2-40B4-BE49-F238E27FC236}">
                <a16:creationId xmlns:a16="http://schemas.microsoft.com/office/drawing/2014/main" id="{C272394C-1057-4953-A086-D69A647F3901}"/>
              </a:ext>
            </a:extLst>
          </p:cNvPr>
          <p:cNvPicPr>
            <a:picLocks noChangeAspect="1"/>
          </p:cNvPicPr>
          <p:nvPr/>
        </p:nvPicPr>
        <p:blipFill>
          <a:blip r:embed="rId3"/>
          <a:stretch>
            <a:fillRect/>
          </a:stretch>
        </p:blipFill>
        <p:spPr>
          <a:xfrm>
            <a:off x="0" y="3855170"/>
            <a:ext cx="11599594" cy="850232"/>
          </a:xfrm>
          <a:prstGeom prst="rect">
            <a:avLst/>
          </a:prstGeom>
        </p:spPr>
      </p:pic>
    </p:spTree>
    <p:extLst>
      <p:ext uri="{BB962C8B-B14F-4D97-AF65-F5344CB8AC3E}">
        <p14:creationId xmlns:p14="http://schemas.microsoft.com/office/powerpoint/2010/main" val="4455748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子功能热点分析</a:t>
            </a:r>
          </a:p>
        </p:txBody>
      </p:sp>
      <p:pic>
        <p:nvPicPr>
          <p:cNvPr id="5" name="图片 4">
            <a:extLst>
              <a:ext uri="{FF2B5EF4-FFF2-40B4-BE49-F238E27FC236}">
                <a16:creationId xmlns:a16="http://schemas.microsoft.com/office/drawing/2014/main" id="{1B4CDA10-FBBF-4B88-8658-31C6C9125522}"/>
              </a:ext>
            </a:extLst>
          </p:cNvPr>
          <p:cNvPicPr>
            <a:picLocks noChangeAspect="1"/>
          </p:cNvPicPr>
          <p:nvPr/>
        </p:nvPicPr>
        <p:blipFill>
          <a:blip r:embed="rId3"/>
          <a:stretch>
            <a:fillRect/>
          </a:stretch>
        </p:blipFill>
        <p:spPr>
          <a:xfrm>
            <a:off x="497123" y="1436418"/>
            <a:ext cx="11197753" cy="3616845"/>
          </a:xfrm>
          <a:prstGeom prst="rect">
            <a:avLst/>
          </a:prstGeom>
        </p:spPr>
      </p:pic>
    </p:spTree>
    <p:extLst>
      <p:ext uri="{BB962C8B-B14F-4D97-AF65-F5344CB8AC3E}">
        <p14:creationId xmlns:p14="http://schemas.microsoft.com/office/powerpoint/2010/main" val="39874799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en-US" altLang="zh-CN" dirty="0"/>
              <a:t>CPU</a:t>
            </a:r>
            <a:r>
              <a:rPr lang="zh-CN" altLang="en-US" dirty="0"/>
              <a:t>峰值和毛刺查找</a:t>
            </a:r>
          </a:p>
        </p:txBody>
      </p:sp>
      <p:sp>
        <p:nvSpPr>
          <p:cNvPr id="3" name="矩形 2">
            <a:extLst>
              <a:ext uri="{FF2B5EF4-FFF2-40B4-BE49-F238E27FC236}">
                <a16:creationId xmlns:a16="http://schemas.microsoft.com/office/drawing/2014/main" id="{FC93E6B3-44E5-4475-A9B7-E176036FCE24}"/>
              </a:ext>
            </a:extLst>
          </p:cNvPr>
          <p:cNvSpPr/>
          <p:nvPr/>
        </p:nvSpPr>
        <p:spPr>
          <a:xfrm>
            <a:off x="498231" y="2648298"/>
            <a:ext cx="8181474"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总消耗量 调用频率</a:t>
            </a:r>
          </a:p>
        </p:txBody>
      </p:sp>
      <p:sp>
        <p:nvSpPr>
          <p:cNvPr id="6" name="矩形 5">
            <a:extLst>
              <a:ext uri="{FF2B5EF4-FFF2-40B4-BE49-F238E27FC236}">
                <a16:creationId xmlns:a16="http://schemas.microsoft.com/office/drawing/2014/main" id="{9D6DD438-7A8C-4BBA-AE79-99071A068E01}"/>
              </a:ext>
            </a:extLst>
          </p:cNvPr>
          <p:cNvSpPr/>
          <p:nvPr/>
        </p:nvSpPr>
        <p:spPr>
          <a:xfrm>
            <a:off x="498231" y="1507958"/>
            <a:ext cx="8181474"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完善的层级构建</a:t>
            </a:r>
          </a:p>
        </p:txBody>
      </p:sp>
      <p:sp>
        <p:nvSpPr>
          <p:cNvPr id="7" name="矩形 6">
            <a:extLst>
              <a:ext uri="{FF2B5EF4-FFF2-40B4-BE49-F238E27FC236}">
                <a16:creationId xmlns:a16="http://schemas.microsoft.com/office/drawing/2014/main" id="{48ADEF52-DBF7-464E-851F-180D4ECAB217}"/>
              </a:ext>
            </a:extLst>
          </p:cNvPr>
          <p:cNvSpPr/>
          <p:nvPr/>
        </p:nvSpPr>
        <p:spPr>
          <a:xfrm>
            <a:off x="498231" y="4124171"/>
            <a:ext cx="8181474"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平均偏差 最近平滑值 高水线平滑值 最大值几项</a:t>
            </a:r>
          </a:p>
        </p:txBody>
      </p:sp>
    </p:spTree>
    <p:extLst>
      <p:ext uri="{BB962C8B-B14F-4D97-AF65-F5344CB8AC3E}">
        <p14:creationId xmlns:p14="http://schemas.microsoft.com/office/powerpoint/2010/main" val="16843791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计时器封装和使用</a:t>
            </a:r>
          </a:p>
        </p:txBody>
      </p:sp>
      <p:pic>
        <p:nvPicPr>
          <p:cNvPr id="4" name="图片 3">
            <a:extLst>
              <a:ext uri="{FF2B5EF4-FFF2-40B4-BE49-F238E27FC236}">
                <a16:creationId xmlns:a16="http://schemas.microsoft.com/office/drawing/2014/main" id="{8E4EAC9B-6A85-4B61-8B56-138C4424DD96}"/>
              </a:ext>
            </a:extLst>
          </p:cNvPr>
          <p:cNvPicPr>
            <a:picLocks noChangeAspect="1"/>
          </p:cNvPicPr>
          <p:nvPr/>
        </p:nvPicPr>
        <p:blipFill>
          <a:blip r:embed="rId3"/>
          <a:stretch>
            <a:fillRect/>
          </a:stretch>
        </p:blipFill>
        <p:spPr>
          <a:xfrm>
            <a:off x="304800" y="1084631"/>
            <a:ext cx="6733333" cy="3980952"/>
          </a:xfrm>
          <a:prstGeom prst="rect">
            <a:avLst/>
          </a:prstGeom>
        </p:spPr>
      </p:pic>
      <p:pic>
        <p:nvPicPr>
          <p:cNvPr id="5" name="图片 4">
            <a:extLst>
              <a:ext uri="{FF2B5EF4-FFF2-40B4-BE49-F238E27FC236}">
                <a16:creationId xmlns:a16="http://schemas.microsoft.com/office/drawing/2014/main" id="{E30E422B-0458-475E-8DCC-5D122FAD50EC}"/>
              </a:ext>
            </a:extLst>
          </p:cNvPr>
          <p:cNvPicPr>
            <a:picLocks noChangeAspect="1"/>
          </p:cNvPicPr>
          <p:nvPr/>
        </p:nvPicPr>
        <p:blipFill>
          <a:blip r:embed="rId4"/>
          <a:stretch>
            <a:fillRect/>
          </a:stretch>
        </p:blipFill>
        <p:spPr>
          <a:xfrm>
            <a:off x="495146" y="5353470"/>
            <a:ext cx="7619048" cy="1180952"/>
          </a:xfrm>
          <a:prstGeom prst="rect">
            <a:avLst/>
          </a:prstGeom>
        </p:spPr>
      </p:pic>
      <p:pic>
        <p:nvPicPr>
          <p:cNvPr id="7" name="图片 6">
            <a:extLst>
              <a:ext uri="{FF2B5EF4-FFF2-40B4-BE49-F238E27FC236}">
                <a16:creationId xmlns:a16="http://schemas.microsoft.com/office/drawing/2014/main" id="{116E1BF2-2C97-4CD0-B0DC-37343247A70C}"/>
              </a:ext>
            </a:extLst>
          </p:cNvPr>
          <p:cNvPicPr>
            <a:picLocks noChangeAspect="1"/>
          </p:cNvPicPr>
          <p:nvPr/>
        </p:nvPicPr>
        <p:blipFill>
          <a:blip r:embed="rId5"/>
          <a:stretch>
            <a:fillRect/>
          </a:stretch>
        </p:blipFill>
        <p:spPr>
          <a:xfrm>
            <a:off x="7678638" y="1213860"/>
            <a:ext cx="3847619" cy="1457143"/>
          </a:xfrm>
          <a:prstGeom prst="rect">
            <a:avLst/>
          </a:prstGeom>
        </p:spPr>
      </p:pic>
    </p:spTree>
    <p:extLst>
      <p:ext uri="{BB962C8B-B14F-4D97-AF65-F5344CB8AC3E}">
        <p14:creationId xmlns:p14="http://schemas.microsoft.com/office/powerpoint/2010/main" val="39488259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基于高精度低延时计时器的性能监控</a:t>
            </a:r>
            <a:r>
              <a:rPr lang="en-US" altLang="zh-CN" dirty="0"/>
              <a:t>: </a:t>
            </a:r>
            <a:r>
              <a:rPr lang="zh-CN" altLang="en-US" dirty="0"/>
              <a:t>启服监控</a:t>
            </a:r>
          </a:p>
        </p:txBody>
      </p:sp>
      <p:pic>
        <p:nvPicPr>
          <p:cNvPr id="4" name="图片 3">
            <a:extLst>
              <a:ext uri="{FF2B5EF4-FFF2-40B4-BE49-F238E27FC236}">
                <a16:creationId xmlns:a16="http://schemas.microsoft.com/office/drawing/2014/main" id="{B66F0A14-EDFD-4381-9889-9AD9F19A1765}"/>
              </a:ext>
            </a:extLst>
          </p:cNvPr>
          <p:cNvPicPr>
            <a:picLocks noChangeAspect="1"/>
          </p:cNvPicPr>
          <p:nvPr/>
        </p:nvPicPr>
        <p:blipFill>
          <a:blip r:embed="rId3"/>
          <a:stretch>
            <a:fillRect/>
          </a:stretch>
        </p:blipFill>
        <p:spPr>
          <a:xfrm>
            <a:off x="766916" y="1784373"/>
            <a:ext cx="8696088" cy="4884347"/>
          </a:xfrm>
          <a:prstGeom prst="rect">
            <a:avLst/>
          </a:prstGeom>
        </p:spPr>
      </p:pic>
      <p:pic>
        <p:nvPicPr>
          <p:cNvPr id="5" name="图片 4">
            <a:extLst>
              <a:ext uri="{FF2B5EF4-FFF2-40B4-BE49-F238E27FC236}">
                <a16:creationId xmlns:a16="http://schemas.microsoft.com/office/drawing/2014/main" id="{F0CA7250-8E9A-4CB4-B91E-49B6089B5FCE}"/>
              </a:ext>
            </a:extLst>
          </p:cNvPr>
          <p:cNvPicPr>
            <a:picLocks noChangeAspect="1"/>
          </p:cNvPicPr>
          <p:nvPr/>
        </p:nvPicPr>
        <p:blipFill>
          <a:blip r:embed="rId4"/>
          <a:stretch>
            <a:fillRect/>
          </a:stretch>
        </p:blipFill>
        <p:spPr>
          <a:xfrm>
            <a:off x="611445" y="1193898"/>
            <a:ext cx="7400000" cy="590476"/>
          </a:xfrm>
          <a:prstGeom prst="rect">
            <a:avLst/>
          </a:prstGeom>
        </p:spPr>
      </p:pic>
    </p:spTree>
    <p:extLst>
      <p:ext uri="{BB962C8B-B14F-4D97-AF65-F5344CB8AC3E}">
        <p14:creationId xmlns:p14="http://schemas.microsoft.com/office/powerpoint/2010/main" val="38592583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基于高精度低延时计时器的性能监控</a:t>
            </a:r>
            <a:r>
              <a:rPr lang="en-US" altLang="zh-CN" dirty="0"/>
              <a:t>: </a:t>
            </a:r>
            <a:r>
              <a:rPr lang="zh-CN" altLang="en-US" dirty="0"/>
              <a:t>行为树监控</a:t>
            </a:r>
          </a:p>
        </p:txBody>
      </p:sp>
      <p:pic>
        <p:nvPicPr>
          <p:cNvPr id="3" name="图片 2">
            <a:extLst>
              <a:ext uri="{FF2B5EF4-FFF2-40B4-BE49-F238E27FC236}">
                <a16:creationId xmlns:a16="http://schemas.microsoft.com/office/drawing/2014/main" id="{71E8677A-EB46-4766-94A3-9B8C8CC2477E}"/>
              </a:ext>
            </a:extLst>
          </p:cNvPr>
          <p:cNvPicPr>
            <a:picLocks noChangeAspect="1"/>
          </p:cNvPicPr>
          <p:nvPr/>
        </p:nvPicPr>
        <p:blipFill>
          <a:blip r:embed="rId3"/>
          <a:stretch>
            <a:fillRect/>
          </a:stretch>
        </p:blipFill>
        <p:spPr>
          <a:xfrm>
            <a:off x="0" y="2475911"/>
            <a:ext cx="12192000" cy="3018732"/>
          </a:xfrm>
          <a:prstGeom prst="rect">
            <a:avLst/>
          </a:prstGeom>
        </p:spPr>
      </p:pic>
      <p:pic>
        <p:nvPicPr>
          <p:cNvPr id="6" name="图片 5">
            <a:extLst>
              <a:ext uri="{FF2B5EF4-FFF2-40B4-BE49-F238E27FC236}">
                <a16:creationId xmlns:a16="http://schemas.microsoft.com/office/drawing/2014/main" id="{F690D0E1-4BF8-4802-BA18-819640E68555}"/>
              </a:ext>
            </a:extLst>
          </p:cNvPr>
          <p:cNvPicPr>
            <a:picLocks noChangeAspect="1"/>
          </p:cNvPicPr>
          <p:nvPr/>
        </p:nvPicPr>
        <p:blipFill>
          <a:blip r:embed="rId4"/>
          <a:stretch>
            <a:fillRect/>
          </a:stretch>
        </p:blipFill>
        <p:spPr>
          <a:xfrm>
            <a:off x="498231" y="1363357"/>
            <a:ext cx="7933333" cy="857143"/>
          </a:xfrm>
          <a:prstGeom prst="rect">
            <a:avLst/>
          </a:prstGeom>
        </p:spPr>
      </p:pic>
    </p:spTree>
    <p:extLst>
      <p:ext uri="{BB962C8B-B14F-4D97-AF65-F5344CB8AC3E}">
        <p14:creationId xmlns:p14="http://schemas.microsoft.com/office/powerpoint/2010/main" val="17907225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基于高精度低延时计时器的性能监控</a:t>
            </a:r>
            <a:r>
              <a:rPr lang="en-US" altLang="zh-CN" dirty="0"/>
              <a:t>: DS</a:t>
            </a:r>
            <a:r>
              <a:rPr lang="zh-CN" altLang="en-US" dirty="0"/>
              <a:t>监控</a:t>
            </a:r>
          </a:p>
        </p:txBody>
      </p:sp>
      <p:pic>
        <p:nvPicPr>
          <p:cNvPr id="4" name="图片 3">
            <a:extLst>
              <a:ext uri="{FF2B5EF4-FFF2-40B4-BE49-F238E27FC236}">
                <a16:creationId xmlns:a16="http://schemas.microsoft.com/office/drawing/2014/main" id="{3D71B74F-9AAE-4EA3-8CE3-A1CF94EC5F56}"/>
              </a:ext>
            </a:extLst>
          </p:cNvPr>
          <p:cNvPicPr>
            <a:picLocks noChangeAspect="1"/>
          </p:cNvPicPr>
          <p:nvPr/>
        </p:nvPicPr>
        <p:blipFill>
          <a:blip r:embed="rId3"/>
          <a:stretch>
            <a:fillRect/>
          </a:stretch>
        </p:blipFill>
        <p:spPr>
          <a:xfrm>
            <a:off x="0" y="2850878"/>
            <a:ext cx="12192000" cy="2365611"/>
          </a:xfrm>
          <a:prstGeom prst="rect">
            <a:avLst/>
          </a:prstGeom>
        </p:spPr>
      </p:pic>
      <p:sp>
        <p:nvSpPr>
          <p:cNvPr id="5" name="矩形 4">
            <a:extLst>
              <a:ext uri="{FF2B5EF4-FFF2-40B4-BE49-F238E27FC236}">
                <a16:creationId xmlns:a16="http://schemas.microsoft.com/office/drawing/2014/main" id="{9F06B047-1970-4F24-9D16-AB64C1654157}"/>
              </a:ext>
            </a:extLst>
          </p:cNvPr>
          <p:cNvSpPr/>
          <p:nvPr/>
        </p:nvSpPr>
        <p:spPr>
          <a:xfrm>
            <a:off x="973394" y="1238865"/>
            <a:ext cx="1253612" cy="115037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Root Tick</a:t>
            </a:r>
            <a:endParaRPr lang="zh-CN" altLang="en-US" dirty="0"/>
          </a:p>
        </p:txBody>
      </p:sp>
      <p:sp>
        <p:nvSpPr>
          <p:cNvPr id="7" name="矩形 6">
            <a:extLst>
              <a:ext uri="{FF2B5EF4-FFF2-40B4-BE49-F238E27FC236}">
                <a16:creationId xmlns:a16="http://schemas.microsoft.com/office/drawing/2014/main" id="{023D2202-FB20-436F-B9C2-5D05BCB08837}"/>
              </a:ext>
            </a:extLst>
          </p:cNvPr>
          <p:cNvSpPr/>
          <p:nvPr/>
        </p:nvSpPr>
        <p:spPr>
          <a:xfrm>
            <a:off x="3008671" y="1227464"/>
            <a:ext cx="1253612" cy="4140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移动</a:t>
            </a:r>
          </a:p>
        </p:txBody>
      </p:sp>
      <p:sp>
        <p:nvSpPr>
          <p:cNvPr id="8" name="矩形 7">
            <a:extLst>
              <a:ext uri="{FF2B5EF4-FFF2-40B4-BE49-F238E27FC236}">
                <a16:creationId xmlns:a16="http://schemas.microsoft.com/office/drawing/2014/main" id="{92876B91-4FED-40B9-9D6F-E25634C25FFF}"/>
              </a:ext>
            </a:extLst>
          </p:cNvPr>
          <p:cNvSpPr/>
          <p:nvPr/>
        </p:nvSpPr>
        <p:spPr>
          <a:xfrm>
            <a:off x="3008671" y="1641511"/>
            <a:ext cx="1253612" cy="4140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行为树</a:t>
            </a:r>
          </a:p>
        </p:txBody>
      </p:sp>
      <p:sp>
        <p:nvSpPr>
          <p:cNvPr id="9" name="矩形 8">
            <a:extLst>
              <a:ext uri="{FF2B5EF4-FFF2-40B4-BE49-F238E27FC236}">
                <a16:creationId xmlns:a16="http://schemas.microsoft.com/office/drawing/2014/main" id="{2BA76252-9AE7-4BEE-A0A8-CF777D9C0961}"/>
              </a:ext>
            </a:extLst>
          </p:cNvPr>
          <p:cNvSpPr/>
          <p:nvPr/>
        </p:nvSpPr>
        <p:spPr>
          <a:xfrm>
            <a:off x="3008671" y="2039170"/>
            <a:ext cx="1253612" cy="4140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感知</a:t>
            </a:r>
          </a:p>
        </p:txBody>
      </p:sp>
      <p:sp>
        <p:nvSpPr>
          <p:cNvPr id="10" name="矩形 9">
            <a:extLst>
              <a:ext uri="{FF2B5EF4-FFF2-40B4-BE49-F238E27FC236}">
                <a16:creationId xmlns:a16="http://schemas.microsoft.com/office/drawing/2014/main" id="{BCE660CB-4520-4752-B1DC-7EFE4D464471}"/>
              </a:ext>
            </a:extLst>
          </p:cNvPr>
          <p:cNvSpPr/>
          <p:nvPr/>
        </p:nvSpPr>
        <p:spPr>
          <a:xfrm>
            <a:off x="4502419" y="1227464"/>
            <a:ext cx="1253612" cy="4140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技能</a:t>
            </a:r>
          </a:p>
        </p:txBody>
      </p:sp>
      <p:sp>
        <p:nvSpPr>
          <p:cNvPr id="11" name="矩形 10">
            <a:extLst>
              <a:ext uri="{FF2B5EF4-FFF2-40B4-BE49-F238E27FC236}">
                <a16:creationId xmlns:a16="http://schemas.microsoft.com/office/drawing/2014/main" id="{A4B855F4-B84E-4BA4-9C24-B0E1557C9A9E}"/>
              </a:ext>
            </a:extLst>
          </p:cNvPr>
          <p:cNvSpPr/>
          <p:nvPr/>
        </p:nvSpPr>
        <p:spPr>
          <a:xfrm>
            <a:off x="4502419" y="1641511"/>
            <a:ext cx="1253612" cy="4140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关卡</a:t>
            </a:r>
          </a:p>
        </p:txBody>
      </p:sp>
      <p:sp>
        <p:nvSpPr>
          <p:cNvPr id="12" name="矩形 11">
            <a:extLst>
              <a:ext uri="{FF2B5EF4-FFF2-40B4-BE49-F238E27FC236}">
                <a16:creationId xmlns:a16="http://schemas.microsoft.com/office/drawing/2014/main" id="{C0713E9D-CE72-4FBC-93AD-0360AA44CEB2}"/>
              </a:ext>
            </a:extLst>
          </p:cNvPr>
          <p:cNvSpPr/>
          <p:nvPr/>
        </p:nvSpPr>
        <p:spPr>
          <a:xfrm>
            <a:off x="4502419" y="2055558"/>
            <a:ext cx="1253612" cy="4140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其他</a:t>
            </a:r>
          </a:p>
        </p:txBody>
      </p:sp>
    </p:spTree>
    <p:extLst>
      <p:ext uri="{BB962C8B-B14F-4D97-AF65-F5344CB8AC3E}">
        <p14:creationId xmlns:p14="http://schemas.microsoft.com/office/powerpoint/2010/main" val="30270561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p:txBody>
          <a:bodyPr/>
          <a:lstStyle/>
          <a:p>
            <a:r>
              <a:rPr lang="zh-CN" altLang="en-US" dirty="0"/>
              <a:t>基于高精度低延时计时器的性能监控</a:t>
            </a:r>
            <a:r>
              <a:rPr lang="en-US" altLang="zh-CN" dirty="0"/>
              <a:t>: </a:t>
            </a:r>
            <a:r>
              <a:rPr lang="zh-CN" altLang="en-US" dirty="0"/>
              <a:t>离散的热点接口和函数监控</a:t>
            </a:r>
          </a:p>
        </p:txBody>
      </p:sp>
      <p:sp>
        <p:nvSpPr>
          <p:cNvPr id="7" name="矩形 6">
            <a:extLst>
              <a:ext uri="{FF2B5EF4-FFF2-40B4-BE49-F238E27FC236}">
                <a16:creationId xmlns:a16="http://schemas.microsoft.com/office/drawing/2014/main" id="{023D2202-FB20-436F-B9C2-5D05BCB08837}"/>
              </a:ext>
            </a:extLst>
          </p:cNvPr>
          <p:cNvSpPr/>
          <p:nvPr/>
        </p:nvSpPr>
        <p:spPr>
          <a:xfrm>
            <a:off x="3560294" y="1355675"/>
            <a:ext cx="2137184" cy="10101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crowd</a:t>
            </a:r>
            <a:endParaRPr lang="zh-CN" altLang="en-US" dirty="0"/>
          </a:p>
        </p:txBody>
      </p:sp>
      <p:sp>
        <p:nvSpPr>
          <p:cNvPr id="8" name="矩形 7">
            <a:extLst>
              <a:ext uri="{FF2B5EF4-FFF2-40B4-BE49-F238E27FC236}">
                <a16:creationId xmlns:a16="http://schemas.microsoft.com/office/drawing/2014/main" id="{92876B91-4FED-40B9-9D6F-E25634C25FFF}"/>
              </a:ext>
            </a:extLst>
          </p:cNvPr>
          <p:cNvSpPr/>
          <p:nvPr/>
        </p:nvSpPr>
        <p:spPr>
          <a:xfrm>
            <a:off x="498231" y="1355676"/>
            <a:ext cx="2137184" cy="10101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CCT</a:t>
            </a:r>
            <a:endParaRPr lang="zh-CN" altLang="en-US" dirty="0"/>
          </a:p>
        </p:txBody>
      </p:sp>
      <p:sp>
        <p:nvSpPr>
          <p:cNvPr id="9" name="矩形 8">
            <a:extLst>
              <a:ext uri="{FF2B5EF4-FFF2-40B4-BE49-F238E27FC236}">
                <a16:creationId xmlns:a16="http://schemas.microsoft.com/office/drawing/2014/main" id="{2BA76252-9AE7-4BEE-A0A8-CF777D9C0961}"/>
              </a:ext>
            </a:extLst>
          </p:cNvPr>
          <p:cNvSpPr/>
          <p:nvPr/>
        </p:nvSpPr>
        <p:spPr>
          <a:xfrm>
            <a:off x="558797" y="2936644"/>
            <a:ext cx="2137184" cy="10101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log</a:t>
            </a:r>
            <a:endParaRPr lang="zh-CN" altLang="en-US" dirty="0"/>
          </a:p>
        </p:txBody>
      </p:sp>
      <p:sp>
        <p:nvSpPr>
          <p:cNvPr id="10" name="矩形 9">
            <a:extLst>
              <a:ext uri="{FF2B5EF4-FFF2-40B4-BE49-F238E27FC236}">
                <a16:creationId xmlns:a16="http://schemas.microsoft.com/office/drawing/2014/main" id="{BCE660CB-4520-4752-B1DC-7EFE4D464471}"/>
              </a:ext>
            </a:extLst>
          </p:cNvPr>
          <p:cNvSpPr/>
          <p:nvPr/>
        </p:nvSpPr>
        <p:spPr>
          <a:xfrm>
            <a:off x="3646253" y="2936645"/>
            <a:ext cx="2716770" cy="10101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pathfinding</a:t>
            </a:r>
            <a:endParaRPr lang="zh-CN" altLang="en-US" dirty="0"/>
          </a:p>
        </p:txBody>
      </p:sp>
      <p:sp>
        <p:nvSpPr>
          <p:cNvPr id="11" name="矩形 10">
            <a:extLst>
              <a:ext uri="{FF2B5EF4-FFF2-40B4-BE49-F238E27FC236}">
                <a16:creationId xmlns:a16="http://schemas.microsoft.com/office/drawing/2014/main" id="{A4B855F4-B84E-4BA4-9C24-B0E1557C9A9E}"/>
              </a:ext>
            </a:extLst>
          </p:cNvPr>
          <p:cNvSpPr/>
          <p:nvPr/>
        </p:nvSpPr>
        <p:spPr>
          <a:xfrm>
            <a:off x="7101720" y="1578382"/>
            <a:ext cx="3638693" cy="10101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err="1"/>
              <a:t>navimesh</a:t>
            </a:r>
            <a:r>
              <a:rPr lang="en-US" altLang="zh-CN" dirty="0"/>
              <a:t> </a:t>
            </a:r>
            <a:r>
              <a:rPr lang="en-US" altLang="zh-CN" dirty="0" err="1"/>
              <a:t>raycast</a:t>
            </a:r>
            <a:endParaRPr lang="zh-CN" altLang="en-US" dirty="0"/>
          </a:p>
        </p:txBody>
      </p:sp>
      <p:sp>
        <p:nvSpPr>
          <p:cNvPr id="12" name="矩形 11">
            <a:extLst>
              <a:ext uri="{FF2B5EF4-FFF2-40B4-BE49-F238E27FC236}">
                <a16:creationId xmlns:a16="http://schemas.microsoft.com/office/drawing/2014/main" id="{C0713E9D-CE72-4FBC-93AD-0360AA44CEB2}"/>
              </a:ext>
            </a:extLst>
          </p:cNvPr>
          <p:cNvSpPr/>
          <p:nvPr/>
        </p:nvSpPr>
        <p:spPr>
          <a:xfrm>
            <a:off x="6807049" y="2684870"/>
            <a:ext cx="3638691" cy="10101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物理</a:t>
            </a:r>
            <a:r>
              <a:rPr lang="en-US" altLang="zh-CN" dirty="0" err="1"/>
              <a:t>raycast</a:t>
            </a:r>
            <a:endParaRPr lang="zh-CN" altLang="en-US" dirty="0"/>
          </a:p>
        </p:txBody>
      </p:sp>
      <p:pic>
        <p:nvPicPr>
          <p:cNvPr id="3" name="图片 2">
            <a:extLst>
              <a:ext uri="{FF2B5EF4-FFF2-40B4-BE49-F238E27FC236}">
                <a16:creationId xmlns:a16="http://schemas.microsoft.com/office/drawing/2014/main" id="{9328859D-89AC-4EEB-BEBB-AB8344B0B01B}"/>
              </a:ext>
            </a:extLst>
          </p:cNvPr>
          <p:cNvPicPr>
            <a:picLocks noChangeAspect="1"/>
          </p:cNvPicPr>
          <p:nvPr/>
        </p:nvPicPr>
        <p:blipFill>
          <a:blip r:embed="rId3"/>
          <a:stretch>
            <a:fillRect/>
          </a:stretch>
        </p:blipFill>
        <p:spPr>
          <a:xfrm>
            <a:off x="112295" y="5179759"/>
            <a:ext cx="12192000" cy="645129"/>
          </a:xfrm>
          <a:prstGeom prst="rect">
            <a:avLst/>
          </a:prstGeom>
        </p:spPr>
      </p:pic>
    </p:spTree>
    <p:extLst>
      <p:ext uri="{BB962C8B-B14F-4D97-AF65-F5344CB8AC3E}">
        <p14:creationId xmlns:p14="http://schemas.microsoft.com/office/powerpoint/2010/main" val="17078268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a:xfrm>
            <a:off x="498231" y="189279"/>
            <a:ext cx="7288917" cy="635539"/>
          </a:xfrm>
        </p:spPr>
        <p:txBody>
          <a:bodyPr/>
          <a:lstStyle/>
          <a:p>
            <a:r>
              <a:rPr lang="zh-CN" altLang="en-US" dirty="0"/>
              <a:t>大世界整体性能</a:t>
            </a:r>
            <a:r>
              <a:rPr lang="en-US" altLang="zh-CN" dirty="0"/>
              <a:t>: </a:t>
            </a:r>
            <a:r>
              <a:rPr lang="zh-CN" altLang="en-US" dirty="0"/>
              <a:t>无玩家激活</a:t>
            </a:r>
            <a:r>
              <a:rPr lang="en-US" altLang="zh-CN" dirty="0"/>
              <a:t>NPC</a:t>
            </a:r>
            <a:r>
              <a:rPr lang="zh-CN" altLang="en-US" dirty="0"/>
              <a:t>的负载情况</a:t>
            </a:r>
          </a:p>
        </p:txBody>
      </p:sp>
      <p:sp>
        <p:nvSpPr>
          <p:cNvPr id="5" name="矩形 4">
            <a:extLst>
              <a:ext uri="{FF2B5EF4-FFF2-40B4-BE49-F238E27FC236}">
                <a16:creationId xmlns:a16="http://schemas.microsoft.com/office/drawing/2014/main" id="{D1F24CC6-4A30-4FC5-AB52-F26CF9E716E0}"/>
              </a:ext>
            </a:extLst>
          </p:cNvPr>
          <p:cNvSpPr/>
          <p:nvPr/>
        </p:nvSpPr>
        <p:spPr>
          <a:xfrm>
            <a:off x="498231" y="1104771"/>
            <a:ext cx="2286000"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NPC</a:t>
            </a:r>
            <a:r>
              <a:rPr lang="zh-CN" altLang="en-US" dirty="0"/>
              <a:t>总数量</a:t>
            </a:r>
            <a:r>
              <a:rPr lang="en-US" altLang="zh-CN" dirty="0"/>
              <a:t>154</a:t>
            </a:r>
            <a:endParaRPr lang="zh-CN" altLang="en-US" dirty="0"/>
          </a:p>
        </p:txBody>
      </p:sp>
      <p:sp>
        <p:nvSpPr>
          <p:cNvPr id="6" name="矩形 5">
            <a:extLst>
              <a:ext uri="{FF2B5EF4-FFF2-40B4-BE49-F238E27FC236}">
                <a16:creationId xmlns:a16="http://schemas.microsoft.com/office/drawing/2014/main" id="{71AA8EA4-7156-4ADC-B62B-FE2FBDABF000}"/>
              </a:ext>
            </a:extLst>
          </p:cNvPr>
          <p:cNvSpPr/>
          <p:nvPr/>
        </p:nvSpPr>
        <p:spPr>
          <a:xfrm>
            <a:off x="498231" y="2136892"/>
            <a:ext cx="4191756"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激活移动和行为树模块的</a:t>
            </a:r>
            <a:r>
              <a:rPr lang="en-US" altLang="zh-CN" dirty="0"/>
              <a:t>NPC</a:t>
            </a:r>
            <a:r>
              <a:rPr lang="zh-CN" altLang="en-US" dirty="0"/>
              <a:t>为</a:t>
            </a:r>
            <a:r>
              <a:rPr lang="en-US" altLang="zh-CN" dirty="0"/>
              <a:t>39</a:t>
            </a:r>
            <a:r>
              <a:rPr lang="zh-CN" altLang="en-US" dirty="0"/>
              <a:t>个</a:t>
            </a:r>
          </a:p>
        </p:txBody>
      </p:sp>
      <p:sp>
        <p:nvSpPr>
          <p:cNvPr id="7" name="矩形 6">
            <a:extLst>
              <a:ext uri="{FF2B5EF4-FFF2-40B4-BE49-F238E27FC236}">
                <a16:creationId xmlns:a16="http://schemas.microsoft.com/office/drawing/2014/main" id="{89C8F0BE-1481-4282-9F1C-9D6428E9E65D}"/>
              </a:ext>
            </a:extLst>
          </p:cNvPr>
          <p:cNvSpPr/>
          <p:nvPr/>
        </p:nvSpPr>
        <p:spPr>
          <a:xfrm>
            <a:off x="498230" y="3185652"/>
            <a:ext cx="7657627" cy="7521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CPU</a:t>
            </a:r>
            <a:r>
              <a:rPr lang="zh-CN" altLang="en-US" dirty="0"/>
              <a:t>单核负载</a:t>
            </a:r>
            <a:r>
              <a:rPr lang="en-US" altLang="zh-CN" dirty="0"/>
              <a:t>43%;  Tick</a:t>
            </a:r>
            <a:r>
              <a:rPr lang="zh-CN" altLang="en-US" dirty="0"/>
              <a:t>帧每</a:t>
            </a:r>
            <a:r>
              <a:rPr lang="en-US" altLang="zh-CN" dirty="0"/>
              <a:t>10ms</a:t>
            </a:r>
            <a:r>
              <a:rPr lang="zh-CN" altLang="en-US" dirty="0"/>
              <a:t>间隔运算消耗</a:t>
            </a:r>
            <a:r>
              <a:rPr lang="en-US" altLang="zh-CN" dirty="0"/>
              <a:t>5~6.5ms</a:t>
            </a:r>
            <a:r>
              <a:rPr lang="zh-CN" altLang="en-US" dirty="0"/>
              <a:t>之间</a:t>
            </a:r>
          </a:p>
        </p:txBody>
      </p:sp>
    </p:spTree>
    <p:extLst>
      <p:ext uri="{BB962C8B-B14F-4D97-AF65-F5344CB8AC3E}">
        <p14:creationId xmlns:p14="http://schemas.microsoft.com/office/powerpoint/2010/main" val="32189918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a:xfrm>
            <a:off x="498231" y="189279"/>
            <a:ext cx="5794081" cy="635539"/>
          </a:xfrm>
        </p:spPr>
        <p:txBody>
          <a:bodyPr/>
          <a:lstStyle/>
          <a:p>
            <a:r>
              <a:rPr lang="en-US" altLang="zh-CN" dirty="0"/>
              <a:t>NPC</a:t>
            </a:r>
            <a:r>
              <a:rPr lang="zh-CN" altLang="en-US" dirty="0"/>
              <a:t>单位性能和负载</a:t>
            </a:r>
          </a:p>
        </p:txBody>
      </p:sp>
      <p:pic>
        <p:nvPicPr>
          <p:cNvPr id="3" name="图片 2">
            <a:extLst>
              <a:ext uri="{FF2B5EF4-FFF2-40B4-BE49-F238E27FC236}">
                <a16:creationId xmlns:a16="http://schemas.microsoft.com/office/drawing/2014/main" id="{F565C6CF-55DB-4B28-A60E-82333DBD96F8}"/>
              </a:ext>
            </a:extLst>
          </p:cNvPr>
          <p:cNvPicPr>
            <a:picLocks noChangeAspect="1"/>
          </p:cNvPicPr>
          <p:nvPr/>
        </p:nvPicPr>
        <p:blipFill>
          <a:blip r:embed="rId3"/>
          <a:stretch>
            <a:fillRect/>
          </a:stretch>
        </p:blipFill>
        <p:spPr>
          <a:xfrm>
            <a:off x="682364" y="1038523"/>
            <a:ext cx="8579624" cy="3922561"/>
          </a:xfrm>
          <a:prstGeom prst="rect">
            <a:avLst/>
          </a:prstGeom>
        </p:spPr>
      </p:pic>
      <p:pic>
        <p:nvPicPr>
          <p:cNvPr id="4" name="图片 3">
            <a:extLst>
              <a:ext uri="{FF2B5EF4-FFF2-40B4-BE49-F238E27FC236}">
                <a16:creationId xmlns:a16="http://schemas.microsoft.com/office/drawing/2014/main" id="{4E0CC8BC-7BA2-4CE1-90A6-520404154E12}"/>
              </a:ext>
            </a:extLst>
          </p:cNvPr>
          <p:cNvPicPr>
            <a:picLocks noChangeAspect="1"/>
          </p:cNvPicPr>
          <p:nvPr/>
        </p:nvPicPr>
        <p:blipFill>
          <a:blip r:embed="rId4"/>
          <a:stretch>
            <a:fillRect/>
          </a:stretch>
        </p:blipFill>
        <p:spPr>
          <a:xfrm>
            <a:off x="924571" y="5174176"/>
            <a:ext cx="7658990" cy="1290602"/>
          </a:xfrm>
          <a:prstGeom prst="rect">
            <a:avLst/>
          </a:prstGeom>
        </p:spPr>
      </p:pic>
    </p:spTree>
    <p:extLst>
      <p:ext uri="{BB962C8B-B14F-4D97-AF65-F5344CB8AC3E}">
        <p14:creationId xmlns:p14="http://schemas.microsoft.com/office/powerpoint/2010/main" val="22768890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a:xfrm>
            <a:off x="498231" y="189279"/>
            <a:ext cx="5794081" cy="635539"/>
          </a:xfrm>
        </p:spPr>
        <p:txBody>
          <a:bodyPr/>
          <a:lstStyle/>
          <a:p>
            <a:r>
              <a:rPr lang="en-US" altLang="zh-CN" dirty="0"/>
              <a:t>NPC</a:t>
            </a:r>
            <a:r>
              <a:rPr lang="zh-CN" altLang="en-US" dirty="0"/>
              <a:t>模块消耗</a:t>
            </a:r>
          </a:p>
        </p:txBody>
      </p:sp>
      <p:pic>
        <p:nvPicPr>
          <p:cNvPr id="5" name="图片 4">
            <a:extLst>
              <a:ext uri="{FF2B5EF4-FFF2-40B4-BE49-F238E27FC236}">
                <a16:creationId xmlns:a16="http://schemas.microsoft.com/office/drawing/2014/main" id="{BE1798AB-E727-433D-9BD4-4429C90FF7D2}"/>
              </a:ext>
            </a:extLst>
          </p:cNvPr>
          <p:cNvPicPr>
            <a:picLocks noChangeAspect="1"/>
          </p:cNvPicPr>
          <p:nvPr/>
        </p:nvPicPr>
        <p:blipFill>
          <a:blip r:embed="rId3"/>
          <a:stretch>
            <a:fillRect/>
          </a:stretch>
        </p:blipFill>
        <p:spPr>
          <a:xfrm>
            <a:off x="1132411" y="1036230"/>
            <a:ext cx="8468788" cy="4902983"/>
          </a:xfrm>
          <a:prstGeom prst="rect">
            <a:avLst/>
          </a:prstGeom>
        </p:spPr>
      </p:pic>
    </p:spTree>
    <p:extLst>
      <p:ext uri="{BB962C8B-B14F-4D97-AF65-F5344CB8AC3E}">
        <p14:creationId xmlns:p14="http://schemas.microsoft.com/office/powerpoint/2010/main" val="18971617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a:xfrm>
            <a:off x="498231" y="189279"/>
            <a:ext cx="5794081" cy="635539"/>
          </a:xfrm>
        </p:spPr>
        <p:txBody>
          <a:bodyPr/>
          <a:lstStyle/>
          <a:p>
            <a:r>
              <a:rPr lang="zh-CN" altLang="en-US" dirty="0"/>
              <a:t>接口统计</a:t>
            </a:r>
          </a:p>
        </p:txBody>
      </p:sp>
      <p:pic>
        <p:nvPicPr>
          <p:cNvPr id="3" name="图片 2">
            <a:extLst>
              <a:ext uri="{FF2B5EF4-FFF2-40B4-BE49-F238E27FC236}">
                <a16:creationId xmlns:a16="http://schemas.microsoft.com/office/drawing/2014/main" id="{A48BE9A4-257A-4072-B848-28E7AE5F4C87}"/>
              </a:ext>
            </a:extLst>
          </p:cNvPr>
          <p:cNvPicPr>
            <a:picLocks noChangeAspect="1"/>
          </p:cNvPicPr>
          <p:nvPr/>
        </p:nvPicPr>
        <p:blipFill>
          <a:blip r:embed="rId3"/>
          <a:stretch>
            <a:fillRect/>
          </a:stretch>
        </p:blipFill>
        <p:spPr>
          <a:xfrm>
            <a:off x="80276" y="1425953"/>
            <a:ext cx="12424072" cy="3367272"/>
          </a:xfrm>
          <a:prstGeom prst="rect">
            <a:avLst/>
          </a:prstGeom>
        </p:spPr>
      </p:pic>
    </p:spTree>
    <p:extLst>
      <p:ext uri="{BB962C8B-B14F-4D97-AF65-F5344CB8AC3E}">
        <p14:creationId xmlns:p14="http://schemas.microsoft.com/office/powerpoint/2010/main" val="31978903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a:xfrm>
            <a:off x="498231" y="174530"/>
            <a:ext cx="9781395" cy="635539"/>
          </a:xfrm>
        </p:spPr>
        <p:txBody>
          <a:bodyPr/>
          <a:lstStyle/>
          <a:p>
            <a:r>
              <a:rPr lang="en-US" altLang="zh-CN" dirty="0"/>
              <a:t>LOD</a:t>
            </a:r>
            <a:r>
              <a:rPr lang="zh-CN" altLang="en-US" dirty="0"/>
              <a:t>优化</a:t>
            </a:r>
            <a:r>
              <a:rPr lang="en-US" altLang="zh-CN" dirty="0"/>
              <a:t>: </a:t>
            </a:r>
            <a:r>
              <a:rPr lang="zh-CN" altLang="en-US" dirty="0"/>
              <a:t>大世界下基于稀疏分布的玩家进行性能优化</a:t>
            </a:r>
          </a:p>
        </p:txBody>
      </p:sp>
      <p:graphicFrame>
        <p:nvGraphicFramePr>
          <p:cNvPr id="15" name="图表 14">
            <a:extLst>
              <a:ext uri="{FF2B5EF4-FFF2-40B4-BE49-F238E27FC236}">
                <a16:creationId xmlns:a16="http://schemas.microsoft.com/office/drawing/2014/main" id="{13A8D44B-934F-46D4-96D6-9206A9928B9A}"/>
              </a:ext>
            </a:extLst>
          </p:cNvPr>
          <p:cNvGraphicFramePr/>
          <p:nvPr>
            <p:extLst>
              <p:ext uri="{D42A27DB-BD31-4B8C-83A1-F6EECF244321}">
                <p14:modId xmlns:p14="http://schemas.microsoft.com/office/powerpoint/2010/main" val="4069099803"/>
              </p:ext>
            </p:extLst>
          </p:nvPr>
        </p:nvGraphicFramePr>
        <p:xfrm>
          <a:off x="655022" y="988607"/>
          <a:ext cx="10184774" cy="568011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377648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91DA3471-5449-4F00-A062-A921125008C2}"/>
              </a:ext>
            </a:extLst>
          </p:cNvPr>
          <p:cNvSpPr/>
          <p:nvPr/>
        </p:nvSpPr>
        <p:spPr>
          <a:xfrm>
            <a:off x="1385020" y="2941908"/>
            <a:ext cx="8742022" cy="635539"/>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rgbClr val="FF0000"/>
                </a:solidFill>
              </a:rPr>
              <a:t>扩展支持</a:t>
            </a:r>
            <a:r>
              <a:rPr lang="en-US" altLang="zh-CN" dirty="0">
                <a:solidFill>
                  <a:srgbClr val="FF0000"/>
                </a:solidFill>
              </a:rPr>
              <a:t>: </a:t>
            </a:r>
            <a:r>
              <a:rPr lang="zh-CN" altLang="en-US" dirty="0">
                <a:solidFill>
                  <a:srgbClr val="FF0000"/>
                </a:solidFill>
              </a:rPr>
              <a:t>需要做</a:t>
            </a:r>
            <a:r>
              <a:rPr lang="en-US" altLang="zh-CN" dirty="0" err="1">
                <a:solidFill>
                  <a:srgbClr val="FF0000"/>
                </a:solidFill>
              </a:rPr>
              <a:t>cacheline</a:t>
            </a:r>
            <a:r>
              <a:rPr lang="zh-CN" altLang="en-US" dirty="0">
                <a:solidFill>
                  <a:srgbClr val="FF0000"/>
                </a:solidFill>
              </a:rPr>
              <a:t>对齐避免伪</a:t>
            </a:r>
            <a:r>
              <a:rPr lang="en-US" altLang="zh-CN" dirty="0">
                <a:solidFill>
                  <a:srgbClr val="FF0000"/>
                </a:solidFill>
              </a:rPr>
              <a:t>cache</a:t>
            </a:r>
            <a:r>
              <a:rPr lang="zh-CN" altLang="en-US" dirty="0">
                <a:solidFill>
                  <a:srgbClr val="FF0000"/>
                </a:solidFill>
              </a:rPr>
              <a:t>共享</a:t>
            </a:r>
            <a:r>
              <a:rPr lang="en-US" altLang="zh-CN" dirty="0">
                <a:solidFill>
                  <a:srgbClr val="FF0000"/>
                </a:solidFill>
              </a:rPr>
              <a:t>: </a:t>
            </a:r>
            <a:r>
              <a:rPr lang="zh-CN" altLang="en-US" dirty="0">
                <a:solidFill>
                  <a:srgbClr val="FF0000"/>
                </a:solidFill>
              </a:rPr>
              <a:t>有性能损耗</a:t>
            </a:r>
          </a:p>
        </p:txBody>
      </p:sp>
      <p:sp>
        <p:nvSpPr>
          <p:cNvPr id="8" name="矩形 7">
            <a:extLst>
              <a:ext uri="{FF2B5EF4-FFF2-40B4-BE49-F238E27FC236}">
                <a16:creationId xmlns:a16="http://schemas.microsoft.com/office/drawing/2014/main" id="{6FC7F39F-0D7E-42FA-8D52-02953B20D72F}"/>
              </a:ext>
            </a:extLst>
          </p:cNvPr>
          <p:cNvSpPr/>
          <p:nvPr/>
        </p:nvSpPr>
        <p:spPr>
          <a:xfrm>
            <a:off x="1385019" y="4447840"/>
            <a:ext cx="9628811" cy="635539"/>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rgbClr val="FF0000"/>
                </a:solidFill>
              </a:rPr>
              <a:t>扩展支持</a:t>
            </a:r>
            <a:r>
              <a:rPr lang="en-US" altLang="zh-CN" dirty="0">
                <a:solidFill>
                  <a:srgbClr val="FF0000"/>
                </a:solidFill>
              </a:rPr>
              <a:t>: </a:t>
            </a:r>
            <a:r>
              <a:rPr lang="zh-CN" altLang="en-US" dirty="0">
                <a:solidFill>
                  <a:srgbClr val="FF0000"/>
                </a:solidFill>
              </a:rPr>
              <a:t>需要对记录的数据进行</a:t>
            </a:r>
            <a:r>
              <a:rPr lang="en-US" altLang="zh-CN" dirty="0">
                <a:solidFill>
                  <a:srgbClr val="FF0000"/>
                </a:solidFill>
              </a:rPr>
              <a:t>CAS </a:t>
            </a:r>
            <a:r>
              <a:rPr lang="zh-CN" altLang="en-US" dirty="0">
                <a:solidFill>
                  <a:srgbClr val="FF0000"/>
                </a:solidFill>
              </a:rPr>
              <a:t>性能至少会出现</a:t>
            </a:r>
            <a:r>
              <a:rPr lang="en-US" altLang="zh-CN" dirty="0">
                <a:solidFill>
                  <a:srgbClr val="FF0000"/>
                </a:solidFill>
              </a:rPr>
              <a:t>17</a:t>
            </a:r>
            <a:r>
              <a:rPr lang="zh-CN" altLang="en-US" dirty="0">
                <a:solidFill>
                  <a:srgbClr val="FF0000"/>
                </a:solidFill>
              </a:rPr>
              <a:t>*状态数量以上的性能增加和波动</a:t>
            </a:r>
          </a:p>
        </p:txBody>
      </p:sp>
      <p:sp>
        <p:nvSpPr>
          <p:cNvPr id="9" name="矩形 8">
            <a:extLst>
              <a:ext uri="{FF2B5EF4-FFF2-40B4-BE49-F238E27FC236}">
                <a16:creationId xmlns:a16="http://schemas.microsoft.com/office/drawing/2014/main" id="{559116BB-6E9B-42B8-9AF3-2D1FCE3831FC}"/>
              </a:ext>
            </a:extLst>
          </p:cNvPr>
          <p:cNvSpPr/>
          <p:nvPr/>
        </p:nvSpPr>
        <p:spPr>
          <a:xfrm>
            <a:off x="1385020" y="5919979"/>
            <a:ext cx="8742022" cy="635539"/>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solidFill>
                  <a:srgbClr val="FF0000"/>
                </a:solidFill>
              </a:rPr>
              <a:t>扩展支持</a:t>
            </a:r>
            <a:r>
              <a:rPr lang="en-US" altLang="zh-CN" dirty="0">
                <a:solidFill>
                  <a:srgbClr val="FF0000"/>
                </a:solidFill>
              </a:rPr>
              <a:t>: </a:t>
            </a:r>
            <a:r>
              <a:rPr lang="zh-CN" altLang="en-US" dirty="0">
                <a:solidFill>
                  <a:srgbClr val="FF0000"/>
                </a:solidFill>
              </a:rPr>
              <a:t>保证同一线程即可</a:t>
            </a:r>
            <a:r>
              <a:rPr lang="en-US" altLang="zh-CN" dirty="0">
                <a:solidFill>
                  <a:srgbClr val="FF0000"/>
                </a:solidFill>
              </a:rPr>
              <a:t>, </a:t>
            </a:r>
            <a:r>
              <a:rPr lang="zh-CN" altLang="en-US" dirty="0">
                <a:solidFill>
                  <a:srgbClr val="FF0000"/>
                </a:solidFill>
              </a:rPr>
              <a:t>否则加锁</a:t>
            </a:r>
          </a:p>
        </p:txBody>
      </p:sp>
      <p:sp>
        <p:nvSpPr>
          <p:cNvPr id="2" name="标题 1">
            <a:extLst>
              <a:ext uri="{FF2B5EF4-FFF2-40B4-BE49-F238E27FC236}">
                <a16:creationId xmlns:a16="http://schemas.microsoft.com/office/drawing/2014/main" id="{D536FA7D-93D4-4FB5-9E3E-05081CBDD0CB}"/>
              </a:ext>
            </a:extLst>
          </p:cNvPr>
          <p:cNvSpPr>
            <a:spLocks noGrp="1"/>
          </p:cNvSpPr>
          <p:nvPr>
            <p:ph type="title"/>
          </p:nvPr>
        </p:nvSpPr>
        <p:spPr/>
        <p:txBody>
          <a:bodyPr/>
          <a:lstStyle/>
          <a:p>
            <a:r>
              <a:rPr lang="zh-CN" altLang="en-US" dirty="0"/>
              <a:t>多线程安全</a:t>
            </a:r>
          </a:p>
        </p:txBody>
      </p:sp>
      <p:sp>
        <p:nvSpPr>
          <p:cNvPr id="3" name="矩形 2">
            <a:extLst>
              <a:ext uri="{FF2B5EF4-FFF2-40B4-BE49-F238E27FC236}">
                <a16:creationId xmlns:a16="http://schemas.microsoft.com/office/drawing/2014/main" id="{F4BAE234-D395-44DE-A6C5-969EF1EF2CE1}"/>
              </a:ext>
            </a:extLst>
          </p:cNvPr>
          <p:cNvSpPr/>
          <p:nvPr/>
        </p:nvSpPr>
        <p:spPr>
          <a:xfrm>
            <a:off x="498231" y="2400956"/>
            <a:ext cx="4555032"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记录与记录之间可以跨线程</a:t>
            </a:r>
          </a:p>
        </p:txBody>
      </p:sp>
      <p:sp>
        <p:nvSpPr>
          <p:cNvPr id="4" name="矩形 3">
            <a:extLst>
              <a:ext uri="{FF2B5EF4-FFF2-40B4-BE49-F238E27FC236}">
                <a16:creationId xmlns:a16="http://schemas.microsoft.com/office/drawing/2014/main" id="{BADBFD27-AF63-4FB2-9731-FE2F47FED4AC}"/>
              </a:ext>
            </a:extLst>
          </p:cNvPr>
          <p:cNvSpPr/>
          <p:nvPr/>
        </p:nvSpPr>
        <p:spPr>
          <a:xfrm>
            <a:off x="498231" y="3906888"/>
            <a:ext cx="8742022"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单个记录未做</a:t>
            </a:r>
            <a:r>
              <a:rPr lang="en-US" altLang="zh-CN" dirty="0"/>
              <a:t>atom</a:t>
            </a:r>
            <a:r>
              <a:rPr lang="zh-CN" altLang="en-US" dirty="0"/>
              <a:t>处理以获取单线程下的极限性能 不支持多线程但可扩展为支持</a:t>
            </a:r>
          </a:p>
        </p:txBody>
      </p:sp>
      <p:sp>
        <p:nvSpPr>
          <p:cNvPr id="5" name="矩形 4">
            <a:extLst>
              <a:ext uri="{FF2B5EF4-FFF2-40B4-BE49-F238E27FC236}">
                <a16:creationId xmlns:a16="http://schemas.microsoft.com/office/drawing/2014/main" id="{1E5BE7E6-9617-4D19-8DE6-2B47E43BDC71}"/>
              </a:ext>
            </a:extLst>
          </p:cNvPr>
          <p:cNvSpPr/>
          <p:nvPr/>
        </p:nvSpPr>
        <p:spPr>
          <a:xfrm>
            <a:off x="498231" y="1064831"/>
            <a:ext cx="8742022"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所有数据结构均为静态数据</a:t>
            </a:r>
            <a:r>
              <a:rPr lang="en-US" altLang="zh-CN" dirty="0"/>
              <a:t>, </a:t>
            </a:r>
            <a:r>
              <a:rPr lang="zh-CN" altLang="en-US" dirty="0"/>
              <a:t>具备多线程扩展能力但不做支持</a:t>
            </a:r>
          </a:p>
        </p:txBody>
      </p:sp>
      <p:sp>
        <p:nvSpPr>
          <p:cNvPr id="6" name="矩形 5">
            <a:extLst>
              <a:ext uri="{FF2B5EF4-FFF2-40B4-BE49-F238E27FC236}">
                <a16:creationId xmlns:a16="http://schemas.microsoft.com/office/drawing/2014/main" id="{3673D0A1-3492-4552-97AD-A9BA408F630E}"/>
              </a:ext>
            </a:extLst>
          </p:cNvPr>
          <p:cNvSpPr/>
          <p:nvPr/>
        </p:nvSpPr>
        <p:spPr>
          <a:xfrm>
            <a:off x="498231" y="5398443"/>
            <a:ext cx="8742022" cy="6355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初始化</a:t>
            </a:r>
            <a:r>
              <a:rPr lang="en-US" altLang="zh-CN" dirty="0"/>
              <a:t>, </a:t>
            </a:r>
            <a:r>
              <a:rPr lang="zh-CN" altLang="en-US" dirty="0"/>
              <a:t>注册节点</a:t>
            </a:r>
            <a:r>
              <a:rPr lang="en-US" altLang="zh-CN" dirty="0"/>
              <a:t>, </a:t>
            </a:r>
            <a:r>
              <a:rPr lang="zh-CN" altLang="en-US" dirty="0"/>
              <a:t>绑定节点之间的关系</a:t>
            </a:r>
            <a:r>
              <a:rPr lang="en-US" altLang="zh-CN" dirty="0"/>
              <a:t>, </a:t>
            </a:r>
            <a:r>
              <a:rPr lang="zh-CN" altLang="en-US" dirty="0"/>
              <a:t>数据合并</a:t>
            </a:r>
            <a:r>
              <a:rPr lang="en-US" altLang="zh-CN" dirty="0"/>
              <a:t>, </a:t>
            </a:r>
            <a:r>
              <a:rPr lang="zh-CN" altLang="en-US" dirty="0"/>
              <a:t>序列化等操作需要在同一线程</a:t>
            </a:r>
          </a:p>
        </p:txBody>
      </p:sp>
    </p:spTree>
    <p:extLst>
      <p:ext uri="{BB962C8B-B14F-4D97-AF65-F5344CB8AC3E}">
        <p14:creationId xmlns:p14="http://schemas.microsoft.com/office/powerpoint/2010/main" val="12908013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36FA7D-93D4-4FB5-9E3E-05081CBDD0CB}"/>
              </a:ext>
            </a:extLst>
          </p:cNvPr>
          <p:cNvSpPr>
            <a:spLocks noGrp="1"/>
          </p:cNvSpPr>
          <p:nvPr>
            <p:ph type="title"/>
          </p:nvPr>
        </p:nvSpPr>
        <p:spPr/>
        <p:txBody>
          <a:bodyPr/>
          <a:lstStyle/>
          <a:p>
            <a:r>
              <a:rPr lang="zh-CN" altLang="en-US" dirty="0"/>
              <a:t>对比</a:t>
            </a:r>
            <a:r>
              <a:rPr lang="en-US" altLang="zh-CN" dirty="0"/>
              <a:t>:GPROF</a:t>
            </a:r>
            <a:endParaRPr lang="zh-CN" altLang="en-US" dirty="0"/>
          </a:p>
        </p:txBody>
      </p:sp>
      <p:sp>
        <p:nvSpPr>
          <p:cNvPr id="5" name="矩形 4">
            <a:extLst>
              <a:ext uri="{FF2B5EF4-FFF2-40B4-BE49-F238E27FC236}">
                <a16:creationId xmlns:a16="http://schemas.microsoft.com/office/drawing/2014/main" id="{1E5BE7E6-9617-4D19-8DE6-2B47E43BDC71}"/>
              </a:ext>
            </a:extLst>
          </p:cNvPr>
          <p:cNvSpPr/>
          <p:nvPr/>
        </p:nvSpPr>
        <p:spPr>
          <a:xfrm>
            <a:off x="498230" y="1064831"/>
            <a:ext cx="6816969"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需要编译开关 原理是函数钩子</a:t>
            </a:r>
          </a:p>
        </p:txBody>
      </p:sp>
      <p:sp>
        <p:nvSpPr>
          <p:cNvPr id="10" name="矩形 9">
            <a:extLst>
              <a:ext uri="{FF2B5EF4-FFF2-40B4-BE49-F238E27FC236}">
                <a16:creationId xmlns:a16="http://schemas.microsoft.com/office/drawing/2014/main" id="{7AD0974A-E6C5-4F17-AF3C-CA27199C5EFC}"/>
              </a:ext>
            </a:extLst>
          </p:cNvPr>
          <p:cNvSpPr/>
          <p:nvPr/>
        </p:nvSpPr>
        <p:spPr>
          <a:xfrm>
            <a:off x="498230" y="2267371"/>
            <a:ext cx="6816969"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不具备实时性</a:t>
            </a:r>
            <a:r>
              <a:rPr lang="en-US" altLang="zh-CN" dirty="0"/>
              <a:t>: </a:t>
            </a:r>
            <a:r>
              <a:rPr lang="zh-CN" altLang="en-US" dirty="0"/>
              <a:t>运行中得到输出需要定时发送信号来实现</a:t>
            </a:r>
          </a:p>
        </p:txBody>
      </p:sp>
      <p:sp>
        <p:nvSpPr>
          <p:cNvPr id="11" name="矩形 10">
            <a:extLst>
              <a:ext uri="{FF2B5EF4-FFF2-40B4-BE49-F238E27FC236}">
                <a16:creationId xmlns:a16="http://schemas.microsoft.com/office/drawing/2014/main" id="{E49A24D9-7CE5-4D50-9410-15EC224DF7C3}"/>
              </a:ext>
            </a:extLst>
          </p:cNvPr>
          <p:cNvSpPr/>
          <p:nvPr/>
        </p:nvSpPr>
        <p:spPr>
          <a:xfrm>
            <a:off x="498230" y="3469911"/>
            <a:ext cx="6816969"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输出数据不直观 只有累计时间不能分段监控</a:t>
            </a:r>
          </a:p>
        </p:txBody>
      </p:sp>
      <p:sp>
        <p:nvSpPr>
          <p:cNvPr id="6" name="矩形 5">
            <a:extLst>
              <a:ext uri="{FF2B5EF4-FFF2-40B4-BE49-F238E27FC236}">
                <a16:creationId xmlns:a16="http://schemas.microsoft.com/office/drawing/2014/main" id="{51260E8F-893B-48CF-AE7F-FB9C92D03A15}"/>
              </a:ext>
            </a:extLst>
          </p:cNvPr>
          <p:cNvSpPr/>
          <p:nvPr/>
        </p:nvSpPr>
        <p:spPr>
          <a:xfrm>
            <a:off x="498230" y="4672451"/>
            <a:ext cx="6816969"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无法统计被</a:t>
            </a:r>
            <a:r>
              <a:rPr lang="en-US" altLang="zh-CN" dirty="0"/>
              <a:t>inline</a:t>
            </a:r>
            <a:r>
              <a:rPr lang="zh-CN" altLang="en-US" dirty="0"/>
              <a:t>化的函数以及代码段的性能监控</a:t>
            </a:r>
          </a:p>
        </p:txBody>
      </p:sp>
      <p:sp>
        <p:nvSpPr>
          <p:cNvPr id="7" name="矩形 6">
            <a:extLst>
              <a:ext uri="{FF2B5EF4-FFF2-40B4-BE49-F238E27FC236}">
                <a16:creationId xmlns:a16="http://schemas.microsoft.com/office/drawing/2014/main" id="{6F5BBD39-FBF8-4D01-9377-0A833392FC88}"/>
              </a:ext>
            </a:extLst>
          </p:cNvPr>
          <p:cNvSpPr/>
          <p:nvPr/>
        </p:nvSpPr>
        <p:spPr>
          <a:xfrm>
            <a:off x="498231" y="5793169"/>
            <a:ext cx="6816969"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不能跨平台</a:t>
            </a:r>
          </a:p>
        </p:txBody>
      </p:sp>
      <p:sp>
        <p:nvSpPr>
          <p:cNvPr id="8" name="矩形 7">
            <a:extLst>
              <a:ext uri="{FF2B5EF4-FFF2-40B4-BE49-F238E27FC236}">
                <a16:creationId xmlns:a16="http://schemas.microsoft.com/office/drawing/2014/main" id="{765F91CB-EFDE-4508-801A-1B234D19F969}"/>
              </a:ext>
            </a:extLst>
          </p:cNvPr>
          <p:cNvSpPr/>
          <p:nvPr/>
        </p:nvSpPr>
        <p:spPr>
          <a:xfrm>
            <a:off x="7749263" y="1184837"/>
            <a:ext cx="3544380"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不能跨平台</a:t>
            </a:r>
          </a:p>
        </p:txBody>
      </p:sp>
      <p:sp>
        <p:nvSpPr>
          <p:cNvPr id="9" name="矩形 8">
            <a:extLst>
              <a:ext uri="{FF2B5EF4-FFF2-40B4-BE49-F238E27FC236}">
                <a16:creationId xmlns:a16="http://schemas.microsoft.com/office/drawing/2014/main" id="{4DD94C14-43FF-4389-8D77-5575C192D861}"/>
              </a:ext>
            </a:extLst>
          </p:cNvPr>
          <p:cNvSpPr/>
          <p:nvPr/>
        </p:nvSpPr>
        <p:spPr>
          <a:xfrm>
            <a:off x="7749263" y="2466473"/>
            <a:ext cx="3544380"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性能污染较重</a:t>
            </a:r>
          </a:p>
        </p:txBody>
      </p:sp>
      <p:sp>
        <p:nvSpPr>
          <p:cNvPr id="12" name="矩形 11">
            <a:extLst>
              <a:ext uri="{FF2B5EF4-FFF2-40B4-BE49-F238E27FC236}">
                <a16:creationId xmlns:a16="http://schemas.microsoft.com/office/drawing/2014/main" id="{5DCBA611-305D-4FAC-A909-640866669C78}"/>
              </a:ext>
            </a:extLst>
          </p:cNvPr>
          <p:cNvSpPr/>
          <p:nvPr/>
        </p:nvSpPr>
        <p:spPr>
          <a:xfrm>
            <a:off x="7749263" y="3728056"/>
            <a:ext cx="3544380"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性能污染较重</a:t>
            </a:r>
          </a:p>
        </p:txBody>
      </p:sp>
      <p:sp>
        <p:nvSpPr>
          <p:cNvPr id="13" name="矩形 12">
            <a:extLst>
              <a:ext uri="{FF2B5EF4-FFF2-40B4-BE49-F238E27FC236}">
                <a16:creationId xmlns:a16="http://schemas.microsoft.com/office/drawing/2014/main" id="{986A4AD6-656F-4576-8E76-34DED05532F0}"/>
              </a:ext>
            </a:extLst>
          </p:cNvPr>
          <p:cNvSpPr/>
          <p:nvPr/>
        </p:nvSpPr>
        <p:spPr>
          <a:xfrm>
            <a:off x="7749263" y="4912464"/>
            <a:ext cx="3544380"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程序不能以</a:t>
            </a:r>
            <a:r>
              <a:rPr lang="en-US" altLang="zh-CN" dirty="0"/>
              <a:t>demon</a:t>
            </a:r>
            <a:r>
              <a:rPr lang="zh-CN" altLang="en-US" dirty="0"/>
              <a:t>方式运行</a:t>
            </a:r>
          </a:p>
        </p:txBody>
      </p:sp>
      <p:sp>
        <p:nvSpPr>
          <p:cNvPr id="14" name="矩形 13">
            <a:extLst>
              <a:ext uri="{FF2B5EF4-FFF2-40B4-BE49-F238E27FC236}">
                <a16:creationId xmlns:a16="http://schemas.microsoft.com/office/drawing/2014/main" id="{89BACFD4-8BD6-4591-B12D-952417428D7C}"/>
              </a:ext>
            </a:extLst>
          </p:cNvPr>
          <p:cNvSpPr/>
          <p:nvPr/>
        </p:nvSpPr>
        <p:spPr>
          <a:xfrm>
            <a:off x="7749263" y="5895473"/>
            <a:ext cx="3544380"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不能统计内核时间例如</a:t>
            </a:r>
            <a:r>
              <a:rPr lang="en-US" altLang="zh-CN" dirty="0"/>
              <a:t>sleep</a:t>
            </a:r>
            <a:endParaRPr lang="zh-CN" altLang="en-US" dirty="0"/>
          </a:p>
        </p:txBody>
      </p:sp>
    </p:spTree>
    <p:extLst>
      <p:ext uri="{BB962C8B-B14F-4D97-AF65-F5344CB8AC3E}">
        <p14:creationId xmlns:p14="http://schemas.microsoft.com/office/powerpoint/2010/main" val="16999528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36FA7D-93D4-4FB5-9E3E-05081CBDD0CB}"/>
              </a:ext>
            </a:extLst>
          </p:cNvPr>
          <p:cNvSpPr>
            <a:spLocks noGrp="1"/>
          </p:cNvSpPr>
          <p:nvPr>
            <p:ph type="title"/>
          </p:nvPr>
        </p:nvSpPr>
        <p:spPr/>
        <p:txBody>
          <a:bodyPr/>
          <a:lstStyle/>
          <a:p>
            <a:r>
              <a:rPr lang="zh-CN" altLang="en-US" dirty="0"/>
              <a:t>对比</a:t>
            </a:r>
            <a:r>
              <a:rPr lang="en-US" altLang="zh-CN" dirty="0"/>
              <a:t>:PERF top </a:t>
            </a:r>
            <a:r>
              <a:rPr lang="zh-CN" altLang="en-US" dirty="0"/>
              <a:t>命令</a:t>
            </a:r>
          </a:p>
        </p:txBody>
      </p:sp>
      <p:sp>
        <p:nvSpPr>
          <p:cNvPr id="5" name="矩形 4">
            <a:extLst>
              <a:ext uri="{FF2B5EF4-FFF2-40B4-BE49-F238E27FC236}">
                <a16:creationId xmlns:a16="http://schemas.microsoft.com/office/drawing/2014/main" id="{1E5BE7E6-9617-4D19-8DE6-2B47E43BDC71}"/>
              </a:ext>
            </a:extLst>
          </p:cNvPr>
          <p:cNvSpPr/>
          <p:nvPr/>
        </p:nvSpPr>
        <p:spPr>
          <a:xfrm>
            <a:off x="498230" y="1064831"/>
            <a:ext cx="7251033"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系统级</a:t>
            </a:r>
            <a:r>
              <a:rPr lang="en-US" altLang="zh-CN" dirty="0" err="1"/>
              <a:t>profiing</a:t>
            </a:r>
            <a:r>
              <a:rPr lang="zh-CN" altLang="en-US" dirty="0"/>
              <a:t>命令 支持函数和指令级的监控</a:t>
            </a:r>
            <a:r>
              <a:rPr lang="en-US" altLang="zh-CN" dirty="0"/>
              <a:t>, CPU</a:t>
            </a:r>
            <a:r>
              <a:rPr lang="zh-CN" altLang="en-US" dirty="0"/>
              <a:t>周期作为统计单位</a:t>
            </a:r>
          </a:p>
        </p:txBody>
      </p:sp>
      <p:sp>
        <p:nvSpPr>
          <p:cNvPr id="10" name="矩形 9">
            <a:extLst>
              <a:ext uri="{FF2B5EF4-FFF2-40B4-BE49-F238E27FC236}">
                <a16:creationId xmlns:a16="http://schemas.microsoft.com/office/drawing/2014/main" id="{7AD0974A-E6C5-4F17-AF3C-CA27199C5EFC}"/>
              </a:ext>
            </a:extLst>
          </p:cNvPr>
          <p:cNvSpPr/>
          <p:nvPr/>
        </p:nvSpPr>
        <p:spPr>
          <a:xfrm>
            <a:off x="498230" y="2267371"/>
            <a:ext cx="6816969"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可随时</a:t>
            </a:r>
            <a:r>
              <a:rPr lang="en-US" altLang="zh-CN" dirty="0"/>
              <a:t>attach</a:t>
            </a:r>
            <a:r>
              <a:rPr lang="zh-CN" altLang="en-US" dirty="0"/>
              <a:t>到任意进程上开始统计分析 不影响程序业务</a:t>
            </a:r>
          </a:p>
        </p:txBody>
      </p:sp>
      <p:sp>
        <p:nvSpPr>
          <p:cNvPr id="11" name="矩形 10">
            <a:extLst>
              <a:ext uri="{FF2B5EF4-FFF2-40B4-BE49-F238E27FC236}">
                <a16:creationId xmlns:a16="http://schemas.microsoft.com/office/drawing/2014/main" id="{E49A24D9-7CE5-4D50-9410-15EC224DF7C3}"/>
              </a:ext>
            </a:extLst>
          </p:cNvPr>
          <p:cNvSpPr/>
          <p:nvPr/>
        </p:nvSpPr>
        <p:spPr>
          <a:xfrm>
            <a:off x="498230" y="3469911"/>
            <a:ext cx="6816969"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输出数据直观 基本可以快速定位到具体的热点代码段</a:t>
            </a:r>
          </a:p>
        </p:txBody>
      </p:sp>
      <p:sp>
        <p:nvSpPr>
          <p:cNvPr id="6" name="矩形 5">
            <a:extLst>
              <a:ext uri="{FF2B5EF4-FFF2-40B4-BE49-F238E27FC236}">
                <a16:creationId xmlns:a16="http://schemas.microsoft.com/office/drawing/2014/main" id="{51260E8F-893B-48CF-AE7F-FB9C92D03A15}"/>
              </a:ext>
            </a:extLst>
          </p:cNvPr>
          <p:cNvSpPr/>
          <p:nvPr/>
        </p:nvSpPr>
        <p:spPr>
          <a:xfrm>
            <a:off x="498230" y="4672451"/>
            <a:ext cx="10378317"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无法自定义统计内容</a:t>
            </a:r>
            <a:r>
              <a:rPr lang="en-US" altLang="zh-CN" dirty="0"/>
              <a:t>, </a:t>
            </a:r>
            <a:r>
              <a:rPr lang="zh-CN" altLang="en-US" dirty="0"/>
              <a:t>无法自定义分类</a:t>
            </a:r>
            <a:r>
              <a:rPr lang="en-US" altLang="zh-CN" dirty="0"/>
              <a:t>,  </a:t>
            </a:r>
            <a:r>
              <a:rPr lang="zh-CN" altLang="en-US" dirty="0"/>
              <a:t>难以筛选数据</a:t>
            </a:r>
            <a:r>
              <a:rPr lang="en-US" altLang="zh-CN" dirty="0"/>
              <a:t>, </a:t>
            </a:r>
            <a:r>
              <a:rPr lang="zh-CN" altLang="en-US" dirty="0"/>
              <a:t>难以量化数据和持续监控</a:t>
            </a:r>
          </a:p>
        </p:txBody>
      </p:sp>
      <p:sp>
        <p:nvSpPr>
          <p:cNvPr id="7" name="矩形 6">
            <a:extLst>
              <a:ext uri="{FF2B5EF4-FFF2-40B4-BE49-F238E27FC236}">
                <a16:creationId xmlns:a16="http://schemas.microsoft.com/office/drawing/2014/main" id="{6F5BBD39-FBF8-4D01-9377-0A833392FC88}"/>
              </a:ext>
            </a:extLst>
          </p:cNvPr>
          <p:cNvSpPr/>
          <p:nvPr/>
        </p:nvSpPr>
        <p:spPr>
          <a:xfrm>
            <a:off x="498231" y="5793169"/>
            <a:ext cx="6816969"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部分热点代码难以判断热点来源路径</a:t>
            </a:r>
          </a:p>
        </p:txBody>
      </p:sp>
      <p:sp>
        <p:nvSpPr>
          <p:cNvPr id="12" name="矩形 11">
            <a:extLst>
              <a:ext uri="{FF2B5EF4-FFF2-40B4-BE49-F238E27FC236}">
                <a16:creationId xmlns:a16="http://schemas.microsoft.com/office/drawing/2014/main" id="{5DCBA611-305D-4FAC-A909-640866669C78}"/>
              </a:ext>
            </a:extLst>
          </p:cNvPr>
          <p:cNvSpPr/>
          <p:nvPr/>
        </p:nvSpPr>
        <p:spPr>
          <a:xfrm>
            <a:off x="7861558" y="2267370"/>
            <a:ext cx="3544380" cy="9625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dirty="0"/>
              <a:t>性能污染小</a:t>
            </a:r>
          </a:p>
        </p:txBody>
      </p:sp>
    </p:spTree>
    <p:extLst>
      <p:ext uri="{BB962C8B-B14F-4D97-AF65-F5344CB8AC3E}">
        <p14:creationId xmlns:p14="http://schemas.microsoft.com/office/powerpoint/2010/main" val="29849261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2721F33-7C73-7D4F-97D3-773B0F711FF7}"/>
              </a:ext>
            </a:extLst>
          </p:cNvPr>
          <p:cNvSpPr>
            <a:spLocks noGrp="1"/>
          </p:cNvSpPr>
          <p:nvPr>
            <p:ph type="title"/>
          </p:nvPr>
        </p:nvSpPr>
        <p:spPr>
          <a:xfrm>
            <a:off x="838200" y="365125"/>
            <a:ext cx="10515600" cy="635539"/>
          </a:xfrm>
        </p:spPr>
        <p:txBody>
          <a:bodyPr>
            <a:normAutofit/>
          </a:bodyPr>
          <a:lstStyle/>
          <a:p>
            <a:endParaRPr lang="zh-CN" altLang="en-US" dirty="0"/>
          </a:p>
        </p:txBody>
      </p:sp>
      <p:pic>
        <p:nvPicPr>
          <p:cNvPr id="8" name="图片 7">
            <a:extLst>
              <a:ext uri="{FF2B5EF4-FFF2-40B4-BE49-F238E27FC236}">
                <a16:creationId xmlns:a16="http://schemas.microsoft.com/office/drawing/2014/main" id="{CA9815A6-7876-9044-8005-0747DF770D9C}"/>
              </a:ext>
            </a:extLst>
          </p:cNvPr>
          <p:cNvPicPr>
            <a:picLocks noChangeAspect="1"/>
          </p:cNvPicPr>
          <p:nvPr/>
        </p:nvPicPr>
        <p:blipFill>
          <a:blip r:embed="rId3"/>
          <a:stretch>
            <a:fillRect/>
          </a:stretch>
        </p:blipFill>
        <p:spPr>
          <a:xfrm>
            <a:off x="0" y="0"/>
            <a:ext cx="12192000" cy="6858000"/>
          </a:xfrm>
          <a:prstGeom prst="rect">
            <a:avLst/>
          </a:prstGeom>
        </p:spPr>
      </p:pic>
      <p:sp>
        <p:nvSpPr>
          <p:cNvPr id="9" name="标题 1">
            <a:extLst>
              <a:ext uri="{FF2B5EF4-FFF2-40B4-BE49-F238E27FC236}">
                <a16:creationId xmlns:a16="http://schemas.microsoft.com/office/drawing/2014/main" id="{5A5D4AD8-A379-8F47-AFEA-B7ED9E57B19D}"/>
              </a:ext>
            </a:extLst>
          </p:cNvPr>
          <p:cNvSpPr txBox="1">
            <a:spLocks/>
          </p:cNvSpPr>
          <p:nvPr/>
        </p:nvSpPr>
        <p:spPr>
          <a:xfrm>
            <a:off x="1523999" y="2530786"/>
            <a:ext cx="9144000" cy="7749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kumimoji="1" lang="en-US" altLang="zh-Hans" b="1" dirty="0">
                <a:solidFill>
                  <a:srgbClr val="00B0F0"/>
                </a:solidFill>
                <a:latin typeface="Microsoft YaHei" panose="020B0503020204020204" pitchFamily="34" charset="-122"/>
                <a:ea typeface="Microsoft YaHei" panose="020B0503020204020204" pitchFamily="34" charset="-122"/>
              </a:rPr>
              <a:t>Thank</a:t>
            </a:r>
            <a:r>
              <a:rPr kumimoji="1" lang="zh-Hans" altLang="en-US" b="1" dirty="0">
                <a:solidFill>
                  <a:srgbClr val="00B0F0"/>
                </a:solidFill>
                <a:latin typeface="Microsoft YaHei" panose="020B0503020204020204" pitchFamily="34" charset="-122"/>
                <a:ea typeface="Microsoft YaHei" panose="020B0503020204020204" pitchFamily="34" charset="-122"/>
              </a:rPr>
              <a:t> </a:t>
            </a:r>
            <a:r>
              <a:rPr kumimoji="1" lang="en-US" altLang="zh-Hans" b="1" dirty="0">
                <a:solidFill>
                  <a:srgbClr val="00B0F0"/>
                </a:solidFill>
                <a:latin typeface="Microsoft YaHei" panose="020B0503020204020204" pitchFamily="34" charset="-122"/>
                <a:ea typeface="Microsoft YaHei" panose="020B0503020204020204" pitchFamily="34" charset="-122"/>
              </a:rPr>
              <a:t>you</a:t>
            </a:r>
            <a:endParaRPr kumimoji="1" lang="zh-CN" altLang="en-US" b="1"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2062761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a:xfrm>
            <a:off x="498231" y="174530"/>
            <a:ext cx="9781395" cy="635539"/>
          </a:xfrm>
        </p:spPr>
        <p:txBody>
          <a:bodyPr/>
          <a:lstStyle/>
          <a:p>
            <a:r>
              <a:rPr lang="en-US" altLang="zh-CN" dirty="0"/>
              <a:t>perf</a:t>
            </a:r>
            <a:r>
              <a:rPr lang="zh-CN" altLang="en-US" dirty="0"/>
              <a:t>原理</a:t>
            </a:r>
          </a:p>
        </p:txBody>
      </p:sp>
      <p:pic>
        <p:nvPicPr>
          <p:cNvPr id="1026" name="Picture 2">
            <a:extLst>
              <a:ext uri="{FF2B5EF4-FFF2-40B4-BE49-F238E27FC236}">
                <a16:creationId xmlns:a16="http://schemas.microsoft.com/office/drawing/2014/main" id="{EDFD2D01-7CF1-4B00-A654-A1E00F6A32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451" y="1155031"/>
            <a:ext cx="9401175"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4627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FE77E-2577-4377-9491-E92B379395ED}"/>
              </a:ext>
            </a:extLst>
          </p:cNvPr>
          <p:cNvSpPr>
            <a:spLocks noGrp="1"/>
          </p:cNvSpPr>
          <p:nvPr>
            <p:ph type="title"/>
          </p:nvPr>
        </p:nvSpPr>
        <p:spPr>
          <a:xfrm>
            <a:off x="498231" y="174530"/>
            <a:ext cx="9781395" cy="635539"/>
          </a:xfrm>
        </p:spPr>
        <p:txBody>
          <a:bodyPr/>
          <a:lstStyle/>
          <a:p>
            <a:r>
              <a:rPr lang="zh-CN" altLang="en-US" dirty="0"/>
              <a:t>内存访问性能测试</a:t>
            </a:r>
          </a:p>
        </p:txBody>
      </p:sp>
      <p:pic>
        <p:nvPicPr>
          <p:cNvPr id="5" name="图片 4">
            <a:extLst>
              <a:ext uri="{FF2B5EF4-FFF2-40B4-BE49-F238E27FC236}">
                <a16:creationId xmlns:a16="http://schemas.microsoft.com/office/drawing/2014/main" id="{94A9E940-7E3F-4D4B-8F84-7C085FAAB459}"/>
              </a:ext>
            </a:extLst>
          </p:cNvPr>
          <p:cNvPicPr>
            <a:picLocks noChangeAspect="1"/>
          </p:cNvPicPr>
          <p:nvPr/>
        </p:nvPicPr>
        <p:blipFill>
          <a:blip r:embed="rId3"/>
          <a:stretch>
            <a:fillRect/>
          </a:stretch>
        </p:blipFill>
        <p:spPr>
          <a:xfrm>
            <a:off x="5817190" y="1074631"/>
            <a:ext cx="4225168" cy="5256050"/>
          </a:xfrm>
          <a:prstGeom prst="rect">
            <a:avLst/>
          </a:prstGeom>
        </p:spPr>
      </p:pic>
      <p:pic>
        <p:nvPicPr>
          <p:cNvPr id="6" name="图片 5">
            <a:extLst>
              <a:ext uri="{FF2B5EF4-FFF2-40B4-BE49-F238E27FC236}">
                <a16:creationId xmlns:a16="http://schemas.microsoft.com/office/drawing/2014/main" id="{FE9D0F1D-0AFF-4993-BAF8-D21313129B3F}"/>
              </a:ext>
            </a:extLst>
          </p:cNvPr>
          <p:cNvPicPr>
            <a:picLocks noChangeAspect="1"/>
          </p:cNvPicPr>
          <p:nvPr/>
        </p:nvPicPr>
        <p:blipFill>
          <a:blip r:embed="rId4"/>
          <a:stretch>
            <a:fillRect/>
          </a:stretch>
        </p:blipFill>
        <p:spPr>
          <a:xfrm>
            <a:off x="738596" y="1074630"/>
            <a:ext cx="3993825" cy="5375149"/>
          </a:xfrm>
          <a:prstGeom prst="rect">
            <a:avLst/>
          </a:prstGeom>
        </p:spPr>
      </p:pic>
    </p:spTree>
    <p:extLst>
      <p:ext uri="{BB962C8B-B14F-4D97-AF65-F5344CB8AC3E}">
        <p14:creationId xmlns:p14="http://schemas.microsoft.com/office/powerpoint/2010/main" val="114809916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dk1"/>
        </a:lnRef>
        <a:fillRef idx="1">
          <a:schemeClr val="lt1"/>
        </a:fillRef>
        <a:effectRef idx="0">
          <a:schemeClr val="dk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78968</TotalTime>
  <Words>1226</Words>
  <Application>Microsoft Office PowerPoint</Application>
  <PresentationFormat>宽屏</PresentationFormat>
  <Paragraphs>272</Paragraphs>
  <Slides>52</Slides>
  <Notes>52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52</vt:i4>
      </vt:variant>
    </vt:vector>
  </HeadingPairs>
  <TitlesOfParts>
    <vt:vector size="58" baseType="lpstr">
      <vt:lpstr>等线</vt:lpstr>
      <vt:lpstr>等线 Light</vt:lpstr>
      <vt:lpstr>微软雅黑</vt:lpstr>
      <vt:lpstr>微软雅黑</vt:lpstr>
      <vt:lpstr>Arial</vt:lpstr>
      <vt:lpstr>Office 主题​​</vt:lpstr>
      <vt:lpstr>PowerPoint 演示文稿</vt:lpstr>
      <vt:lpstr>需求背景</vt:lpstr>
      <vt:lpstr>常见计时方法对比</vt:lpstr>
      <vt:lpstr>RDTSC问题: 漂变问题</vt:lpstr>
      <vt:lpstr>RDTSC使用问题:恒定TSC( Invariant TSC)支持</vt:lpstr>
      <vt:lpstr>RDTSC使用问题:编译优化</vt:lpstr>
      <vt:lpstr>RDTSC使用问题: 编译优化</vt:lpstr>
      <vt:lpstr>基础版RDTSC扩展汇编</vt:lpstr>
      <vt:lpstr>RDTSC使用问题: OoOE 乱序执行</vt:lpstr>
      <vt:lpstr>RDTSC使用问题: OoOE 乱序执行</vt:lpstr>
      <vt:lpstr>RDTSC使用问题: OoOE 乱序执行</vt:lpstr>
      <vt:lpstr>RDTSC使用问题: OoOE 乱序执行</vt:lpstr>
      <vt:lpstr>RDTSC使用问题: OoOE 乱序执行</vt:lpstr>
      <vt:lpstr>RDTSC使用问题: OoOE 乱序执行</vt:lpstr>
      <vt:lpstr>RDTSC使用问题: OoOE 乱序执行</vt:lpstr>
      <vt:lpstr>RDTSC使用问题: OoOE 乱序执行</vt:lpstr>
      <vt:lpstr>RDTSC使用问题: OoOE 乱序执行</vt:lpstr>
      <vt:lpstr>RDTSC使用问题: OoOE 乱序执行</vt:lpstr>
      <vt:lpstr>RDTSC使用问题: OoOE 乱序执行</vt:lpstr>
      <vt:lpstr>RDTSC使用问题: 上游指令序列化</vt:lpstr>
      <vt:lpstr>RDTSC使用问题: 上游指令序列化 </vt:lpstr>
      <vt:lpstr>RDTSC使用问题: 上游指令序列化 </vt:lpstr>
      <vt:lpstr>RDTSC使用问题: 扩展汇编实现</vt:lpstr>
      <vt:lpstr>计时器封装和单独使用</vt:lpstr>
      <vt:lpstr>计录器实现</vt:lpstr>
      <vt:lpstr>自定义分类分层的调用树实现</vt:lpstr>
      <vt:lpstr>自定义分类分层的调用树实现</vt:lpstr>
      <vt:lpstr>自定义分类分层的数据汇总图实现</vt:lpstr>
      <vt:lpstr>自定义分类分层的数据汇总图实现</vt:lpstr>
      <vt:lpstr>树形结构的顺序合并</vt:lpstr>
      <vt:lpstr>平滑统计</vt:lpstr>
      <vt:lpstr>平滑统计</vt:lpstr>
      <vt:lpstr>分段统计</vt:lpstr>
      <vt:lpstr>平均单次调用和总量调用</vt:lpstr>
      <vt:lpstr>子功能热点分析</vt:lpstr>
      <vt:lpstr>CPU峰值和毛刺查找</vt:lpstr>
      <vt:lpstr>计时器封装和使用</vt:lpstr>
      <vt:lpstr>基于高精度低延时计时器的性能监控: 启服监控</vt:lpstr>
      <vt:lpstr>基于高精度低延时计时器的性能监控: 行为树监控</vt:lpstr>
      <vt:lpstr>基于高精度低延时计时器的性能监控: DS监控</vt:lpstr>
      <vt:lpstr>基于高精度低延时计时器的性能监控: 离散的热点接口和函数监控</vt:lpstr>
      <vt:lpstr>大世界整体性能: 无玩家激活NPC的负载情况</vt:lpstr>
      <vt:lpstr>NPC单位性能和负载</vt:lpstr>
      <vt:lpstr>NPC模块消耗</vt:lpstr>
      <vt:lpstr>接口统计</vt:lpstr>
      <vt:lpstr>LOD优化: 大世界下基于稀疏分布的玩家进行性能优化</vt:lpstr>
      <vt:lpstr>多线程安全</vt:lpstr>
      <vt:lpstr>对比:GPROF</vt:lpstr>
      <vt:lpstr>对比:PERF top 命令</vt:lpstr>
      <vt:lpstr>PowerPoint 演示文稿</vt:lpstr>
      <vt:lpstr>perf原理</vt:lpstr>
      <vt:lpstr>内存访问性能测试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ACM服务器技能系统设计分享--skylerzhang</dc:title>
  <dc:creator>skylerzhang(张亚伟)</dc:creator>
  <cp:lastModifiedBy>T140090</cp:lastModifiedBy>
  <cp:revision>2184</cp:revision>
  <dcterms:created xsi:type="dcterms:W3CDTF">2018-12-07T03:09:35Z</dcterms:created>
  <dcterms:modified xsi:type="dcterms:W3CDTF">2026-03-04T03:20:14Z</dcterms:modified>
</cp:coreProperties>
</file>